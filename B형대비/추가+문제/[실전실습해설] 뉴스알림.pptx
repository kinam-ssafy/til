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7" r:id="rId2"/>
    <p:sldId id="479" r:id="rId3"/>
    <p:sldId id="480" r:id="rId4"/>
    <p:sldId id="481" r:id="rId5"/>
    <p:sldId id="482" r:id="rId6"/>
    <p:sldId id="483" r:id="rId7"/>
    <p:sldId id="484" r:id="rId8"/>
    <p:sldId id="485" r:id="rId9"/>
    <p:sldId id="486" r:id="rId10"/>
    <p:sldId id="487" r:id="rId11"/>
    <p:sldId id="488" r:id="rId12"/>
    <p:sldId id="489" r:id="rId13"/>
    <p:sldId id="490" r:id="rId14"/>
    <p:sldId id="47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2" clrIdx="0">
    <p:extLst>
      <p:ext uri="{19B8F6BF-5375-455C-9EA6-DF929625EA0E}">
        <p15:presenceInfo xmlns:p15="http://schemas.microsoft.com/office/powerpoint/2012/main" userId="Administrator" providerId="None"/>
      </p:ext>
    </p:extLst>
  </p:cmAuthor>
  <p:cmAuthor id="2" name="강태웅/채용T/F/삼성전자" initials="강" lastIdx="1" clrIdx="1">
    <p:extLst>
      <p:ext uri="{19B8F6BF-5375-455C-9EA6-DF929625EA0E}">
        <p15:presenceInfo xmlns:p15="http://schemas.microsoft.com/office/powerpoint/2012/main" userId="S-1-5-21-1569490900-2152479555-3239727262-69684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B0F0"/>
    <a:srgbClr val="000000"/>
    <a:srgbClr val="FFFF00"/>
    <a:srgbClr val="F7A988"/>
    <a:srgbClr val="0000FF"/>
    <a:srgbClr val="262626"/>
    <a:srgbClr val="F3A875"/>
    <a:srgbClr val="F6AF90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85693" autoAdjust="0"/>
  </p:normalViewPr>
  <p:slideViewPr>
    <p:cSldViewPr snapToGrid="0">
      <p:cViewPr varScale="1">
        <p:scale>
          <a:sx n="98" d="100"/>
          <a:sy n="98" d="100"/>
        </p:scale>
        <p:origin x="126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59558F-7E82-47C5-9DEC-DEFB59F90C9F}" type="datetimeFigureOut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40C502-31AD-4FDA-A000-DE585EB465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1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C502-31AD-4FDA-A000-DE585EB465B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019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C502-31AD-4FDA-A000-DE585EB465B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432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C502-31AD-4FDA-A000-DE585EB465B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973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C502-31AD-4FDA-A000-DE585EB465B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271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C502-31AD-4FDA-A000-DE585EB465B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446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C502-31AD-4FDA-A000-DE585EB465B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664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C502-31AD-4FDA-A000-DE585EB465B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114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C502-31AD-4FDA-A000-DE585EB465B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467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C502-31AD-4FDA-A000-DE585EB465B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878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C502-31AD-4FDA-A000-DE585EB465B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92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C502-31AD-4FDA-A000-DE585EB465B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6905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C502-31AD-4FDA-A000-DE585EB465B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4401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C502-31AD-4FDA-A000-DE585EB465B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039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0C502-31AD-4FDA-A000-DE585EB465B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510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195B-6E2F-4166-ABEF-7BB247DF8734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A18B-B2DB-47E0-9D4E-6136E38E58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101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ì¼ì± ë¡ê³  ì´ë¯¸ì§ ê²ìê²°ê³¼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17" y="155161"/>
            <a:ext cx="1064111" cy="515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6070" y="1730947"/>
            <a:ext cx="11567160" cy="2043382"/>
          </a:xfrm>
        </p:spPr>
        <p:txBody>
          <a:bodyPr anchor="b"/>
          <a:lstStyle>
            <a:lvl1pPr algn="ctr">
              <a:defRPr sz="6000" b="1">
                <a:solidFill>
                  <a:srgbClr val="0070C0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06070" y="3890683"/>
            <a:ext cx="11567160" cy="1003300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6529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65298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189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12420" y="365126"/>
            <a:ext cx="9679305" cy="1016000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12420" y="1524000"/>
            <a:ext cx="11567160" cy="46529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312420" y="6356350"/>
            <a:ext cx="3268980" cy="365125"/>
          </a:xfrm>
        </p:spPr>
        <p:txBody>
          <a:bodyPr/>
          <a:lstStyle/>
          <a:p>
            <a:fld id="{86CE2933-6D62-4364-A533-5444F957E8D7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/>
          <a:p>
            <a:fld id="{DB11A18B-B2DB-47E0-9D4E-6136E38E58F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 rot="18900000">
            <a:off x="8080881" y="359537"/>
            <a:ext cx="4353347" cy="1429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 rot="18900000">
            <a:off x="10015325" y="-324459"/>
            <a:ext cx="4353347" cy="3618069"/>
          </a:xfrm>
          <a:prstGeom prst="rect">
            <a:avLst/>
          </a:prstGeom>
          <a:solidFill>
            <a:srgbClr val="065298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 userDrawn="1"/>
        </p:nvSpPr>
        <p:spPr>
          <a:xfrm rot="18900000">
            <a:off x="8345824" y="99905"/>
            <a:ext cx="4788683" cy="25319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 flipH="1">
            <a:off x="7645397" y="1381126"/>
            <a:ext cx="4523891" cy="3459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 userDrawn="1"/>
        </p:nvSpPr>
        <p:spPr>
          <a:xfrm flipH="1">
            <a:off x="9122444" y="-1961176"/>
            <a:ext cx="3046843" cy="23263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452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12420" y="365126"/>
            <a:ext cx="9679305" cy="930769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12420" y="1524000"/>
            <a:ext cx="11567160" cy="46529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312420" y="6356350"/>
            <a:ext cx="3268980" cy="365125"/>
          </a:xfrm>
        </p:spPr>
        <p:txBody>
          <a:bodyPr/>
          <a:lstStyle/>
          <a:p>
            <a:fld id="{50E1359B-09E2-4453-BDCC-C9A34BF4D9FD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/>
          <a:p>
            <a:fld id="{DB11A18B-B2DB-47E0-9D4E-6136E38E58F3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37" name="그룹 36"/>
          <p:cNvGrpSpPr/>
          <p:nvPr userDrawn="1"/>
        </p:nvGrpSpPr>
        <p:grpSpPr>
          <a:xfrm>
            <a:off x="3191943" y="-2806172"/>
            <a:ext cx="8194461" cy="6342594"/>
            <a:chOff x="3191943" y="-2806172"/>
            <a:chExt cx="8194461" cy="6342594"/>
          </a:xfrm>
        </p:grpSpPr>
        <p:sp>
          <p:nvSpPr>
            <p:cNvPr id="32" name="자유형 31"/>
            <p:cNvSpPr/>
            <p:nvPr userDrawn="1"/>
          </p:nvSpPr>
          <p:spPr>
            <a:xfrm rot="18900000">
              <a:off x="3191943" y="203969"/>
              <a:ext cx="396615" cy="142925"/>
            </a:xfrm>
            <a:custGeom>
              <a:avLst/>
              <a:gdLst>
                <a:gd name="connsiteX0" fmla="*/ 253690 w 396615"/>
                <a:gd name="connsiteY0" fmla="*/ 0 h 142925"/>
                <a:gd name="connsiteX1" fmla="*/ 396615 w 396615"/>
                <a:gd name="connsiteY1" fmla="*/ 142925 h 142925"/>
                <a:gd name="connsiteX2" fmla="*/ 142925 w 396615"/>
                <a:gd name="connsiteY2" fmla="*/ 142925 h 142925"/>
                <a:gd name="connsiteX3" fmla="*/ 0 w 396615"/>
                <a:gd name="connsiteY3" fmla="*/ 0 h 1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615" h="142925">
                  <a:moveTo>
                    <a:pt x="253690" y="0"/>
                  </a:moveTo>
                  <a:lnTo>
                    <a:pt x="396615" y="142925"/>
                  </a:lnTo>
                  <a:lnTo>
                    <a:pt x="142925" y="1429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자유형 29"/>
            <p:cNvSpPr/>
            <p:nvPr userDrawn="1"/>
          </p:nvSpPr>
          <p:spPr>
            <a:xfrm rot="18900000">
              <a:off x="5043810" y="-2806172"/>
              <a:ext cx="6342594" cy="6342594"/>
            </a:xfrm>
            <a:custGeom>
              <a:avLst/>
              <a:gdLst>
                <a:gd name="connsiteX0" fmla="*/ 253690 w 6342594"/>
                <a:gd name="connsiteY0" fmla="*/ 0 h 6342594"/>
                <a:gd name="connsiteX1" fmla="*/ 6342594 w 6342594"/>
                <a:gd name="connsiteY1" fmla="*/ 6088904 h 6342594"/>
                <a:gd name="connsiteX2" fmla="*/ 6342594 w 6342594"/>
                <a:gd name="connsiteY2" fmla="*/ 6342594 h 6342594"/>
                <a:gd name="connsiteX3" fmla="*/ 0 w 6342594"/>
                <a:gd name="connsiteY3" fmla="*/ 0 h 634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42594" h="6342594">
                  <a:moveTo>
                    <a:pt x="253690" y="0"/>
                  </a:moveTo>
                  <a:lnTo>
                    <a:pt x="6342594" y="6088904"/>
                  </a:lnTo>
                  <a:lnTo>
                    <a:pt x="6342594" y="6342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5298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자유형 30"/>
            <p:cNvSpPr/>
            <p:nvPr userDrawn="1"/>
          </p:nvSpPr>
          <p:spPr>
            <a:xfrm rot="18900000">
              <a:off x="3414922" y="148833"/>
              <a:ext cx="506887" cy="253197"/>
            </a:xfrm>
            <a:custGeom>
              <a:avLst/>
              <a:gdLst>
                <a:gd name="connsiteX0" fmla="*/ 253690 w 506887"/>
                <a:gd name="connsiteY0" fmla="*/ 0 h 253197"/>
                <a:gd name="connsiteX1" fmla="*/ 506887 w 506887"/>
                <a:gd name="connsiteY1" fmla="*/ 253197 h 253197"/>
                <a:gd name="connsiteX2" fmla="*/ 253197 w 506887"/>
                <a:gd name="connsiteY2" fmla="*/ 253197 h 253197"/>
                <a:gd name="connsiteX3" fmla="*/ 0 w 506887"/>
                <a:gd name="connsiteY3" fmla="*/ 0 h 253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887" h="253197">
                  <a:moveTo>
                    <a:pt x="253690" y="0"/>
                  </a:moveTo>
                  <a:lnTo>
                    <a:pt x="506887" y="253197"/>
                  </a:lnTo>
                  <a:lnTo>
                    <a:pt x="253197" y="253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9" name="자유형 48"/>
          <p:cNvSpPr/>
          <p:nvPr userDrawn="1"/>
        </p:nvSpPr>
        <p:spPr>
          <a:xfrm rot="8100000">
            <a:off x="632958" y="1235823"/>
            <a:ext cx="320343" cy="142925"/>
          </a:xfrm>
          <a:custGeom>
            <a:avLst/>
            <a:gdLst>
              <a:gd name="connsiteX0" fmla="*/ 142925 w 320343"/>
              <a:gd name="connsiteY0" fmla="*/ 142925 h 142925"/>
              <a:gd name="connsiteX1" fmla="*/ 0 w 320343"/>
              <a:gd name="connsiteY1" fmla="*/ 0 h 142925"/>
              <a:gd name="connsiteX2" fmla="*/ 177418 w 320343"/>
              <a:gd name="connsiteY2" fmla="*/ 0 h 142925"/>
              <a:gd name="connsiteX3" fmla="*/ 320343 w 320343"/>
              <a:gd name="connsiteY3" fmla="*/ 142925 h 1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343" h="142925">
                <a:moveTo>
                  <a:pt x="142925" y="142925"/>
                </a:moveTo>
                <a:lnTo>
                  <a:pt x="0" y="0"/>
                </a:lnTo>
                <a:lnTo>
                  <a:pt x="177418" y="0"/>
                </a:lnTo>
                <a:lnTo>
                  <a:pt x="320343" y="14292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자유형 45"/>
          <p:cNvSpPr/>
          <p:nvPr userDrawn="1"/>
        </p:nvSpPr>
        <p:spPr>
          <a:xfrm rot="8100000">
            <a:off x="-1584182" y="474559"/>
            <a:ext cx="1691435" cy="1602726"/>
          </a:xfrm>
          <a:custGeom>
            <a:avLst/>
            <a:gdLst>
              <a:gd name="connsiteX0" fmla="*/ 1602726 w 1691435"/>
              <a:gd name="connsiteY0" fmla="*/ 1602726 h 1602726"/>
              <a:gd name="connsiteX1" fmla="*/ 0 w 1691435"/>
              <a:gd name="connsiteY1" fmla="*/ 0 h 1602726"/>
              <a:gd name="connsiteX2" fmla="*/ 177417 w 1691435"/>
              <a:gd name="connsiteY2" fmla="*/ 0 h 1602726"/>
              <a:gd name="connsiteX3" fmla="*/ 1691435 w 1691435"/>
              <a:gd name="connsiteY3" fmla="*/ 1514018 h 160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1435" h="1602726">
                <a:moveTo>
                  <a:pt x="1602726" y="1602726"/>
                </a:moveTo>
                <a:lnTo>
                  <a:pt x="0" y="0"/>
                </a:lnTo>
                <a:lnTo>
                  <a:pt x="177417" y="0"/>
                </a:lnTo>
                <a:lnTo>
                  <a:pt x="1691435" y="1514018"/>
                </a:lnTo>
                <a:close/>
              </a:path>
            </a:pathLst>
          </a:custGeom>
          <a:solidFill>
            <a:srgbClr val="065298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자유형 47"/>
          <p:cNvSpPr/>
          <p:nvPr userDrawn="1"/>
        </p:nvSpPr>
        <p:spPr>
          <a:xfrm rot="8100000">
            <a:off x="299707" y="1180687"/>
            <a:ext cx="430613" cy="253197"/>
          </a:xfrm>
          <a:custGeom>
            <a:avLst/>
            <a:gdLst>
              <a:gd name="connsiteX0" fmla="*/ 253197 w 430613"/>
              <a:gd name="connsiteY0" fmla="*/ 253197 h 253197"/>
              <a:gd name="connsiteX1" fmla="*/ 0 w 430613"/>
              <a:gd name="connsiteY1" fmla="*/ 0 h 253197"/>
              <a:gd name="connsiteX2" fmla="*/ 177416 w 430613"/>
              <a:gd name="connsiteY2" fmla="*/ 0 h 253197"/>
              <a:gd name="connsiteX3" fmla="*/ 430613 w 430613"/>
              <a:gd name="connsiteY3" fmla="*/ 253197 h 25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0613" h="253197">
                <a:moveTo>
                  <a:pt x="253197" y="253197"/>
                </a:moveTo>
                <a:lnTo>
                  <a:pt x="0" y="0"/>
                </a:lnTo>
                <a:lnTo>
                  <a:pt x="177416" y="0"/>
                </a:lnTo>
                <a:lnTo>
                  <a:pt x="430613" y="253197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406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 userDrawn="1"/>
        </p:nvSpPr>
        <p:spPr>
          <a:xfrm rot="18900000">
            <a:off x="5702330" y="3510795"/>
            <a:ext cx="12420600" cy="2531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Picture 4" descr="ì¼ì± ë¡ê³  ì´ë¯¸ì§ ê²ìê²°ê³¼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17" y="155161"/>
            <a:ext cx="1064111" cy="515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 userDrawn="1"/>
        </p:nvSpPr>
        <p:spPr>
          <a:xfrm>
            <a:off x="-76200" y="3133725"/>
            <a:ext cx="12420600" cy="1866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 rot="18900000">
            <a:off x="6626506" y="5572057"/>
            <a:ext cx="5794303" cy="118118"/>
          </a:xfrm>
          <a:prstGeom prst="rect">
            <a:avLst/>
          </a:prstGeom>
          <a:solidFill>
            <a:srgbClr val="0E9AE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 userDrawn="1"/>
        </p:nvSpPr>
        <p:spPr>
          <a:xfrm rot="18900000">
            <a:off x="10247355" y="1187827"/>
            <a:ext cx="5794303" cy="118118"/>
          </a:xfrm>
          <a:prstGeom prst="rect">
            <a:avLst/>
          </a:prstGeom>
          <a:solidFill>
            <a:srgbClr val="065298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 9"/>
          <p:cNvSpPr/>
          <p:nvPr userDrawn="1"/>
        </p:nvSpPr>
        <p:spPr>
          <a:xfrm rot="18900000">
            <a:off x="8089270" y="3294107"/>
            <a:ext cx="4243172" cy="1538992"/>
          </a:xfrm>
          <a:custGeom>
            <a:avLst/>
            <a:gdLst>
              <a:gd name="connsiteX0" fmla="*/ 2640194 w 4179186"/>
              <a:gd name="connsiteY0" fmla="*/ 0 h 1538992"/>
              <a:gd name="connsiteX1" fmla="*/ 4179186 w 4179186"/>
              <a:gd name="connsiteY1" fmla="*/ 1538992 h 1538992"/>
              <a:gd name="connsiteX2" fmla="*/ 1538992 w 4179186"/>
              <a:gd name="connsiteY2" fmla="*/ 1538992 h 1538992"/>
              <a:gd name="connsiteX3" fmla="*/ 0 w 4179186"/>
              <a:gd name="connsiteY3" fmla="*/ 0 h 1538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9186" h="1538992">
                <a:moveTo>
                  <a:pt x="2640194" y="0"/>
                </a:moveTo>
                <a:lnTo>
                  <a:pt x="4179186" y="1538992"/>
                </a:lnTo>
                <a:lnTo>
                  <a:pt x="1538992" y="153899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 rot="18900000">
            <a:off x="4464900" y="3977486"/>
            <a:ext cx="12420600" cy="2531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6070" y="1709738"/>
            <a:ext cx="11567160" cy="3290887"/>
          </a:xfrm>
        </p:spPr>
        <p:txBody>
          <a:bodyPr anchor="b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06070" y="5086351"/>
            <a:ext cx="11567160" cy="1003300"/>
          </a:xfrm>
        </p:spPr>
        <p:txBody>
          <a:bodyPr/>
          <a:lstStyle>
            <a:lvl1pPr marL="0" indent="0">
              <a:buNone/>
              <a:defRPr sz="2400">
                <a:solidFill>
                  <a:srgbClr val="06529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306070" y="6356350"/>
            <a:ext cx="3275330" cy="365125"/>
          </a:xfrm>
        </p:spPr>
        <p:txBody>
          <a:bodyPr/>
          <a:lstStyle/>
          <a:p>
            <a:fld id="{4E07984B-70DE-48B6-BBC0-72D3A36A436D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8227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97FFA-8A3E-4B6B-ABD5-608F25B4D26E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A18B-B2DB-47E0-9D4E-6136E38E58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48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0AEA7-9840-4E9F-906F-DC2B0164046B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A18B-B2DB-47E0-9D4E-6136E38E58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335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6297-BD47-4E3F-ACA1-AEE7578737E0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A18B-B2DB-47E0-9D4E-6136E38E58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290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4800-2210-4F02-AF24-6888F09325C2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A18B-B2DB-47E0-9D4E-6136E38E58F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Picture 2" descr="ì¼ì± ë¸ëë ì»¬ë¬ ì´ë¯¸ì§ ê²ìê²°ê³¼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6376" y="5763675"/>
            <a:ext cx="2345998" cy="718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ì¼ì± ë¸ëë ì»¬ë¬ ì´ë¯¸ì§ ê²ìê²°ê³¼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1075" y="6482291"/>
            <a:ext cx="1335852" cy="75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391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E6E71-B966-4B68-A7BA-CEF6365C28FC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A18B-B2DB-47E0-9D4E-6136E38E58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77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A53FA-D3E7-412F-B3CD-4B414D9FDA2D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A18B-B2DB-47E0-9D4E-6136E38E58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87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D2BA-26F1-4DBC-8F57-BB8245DE1D16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A18B-B2DB-47E0-9D4E-6136E38E58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151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46DB4-D64E-4BE9-8480-79ACE33332FD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A18B-B2DB-47E0-9D4E-6136E38E58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85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3A5D2-4A37-41E2-AEC2-D331735F9058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1A18B-B2DB-47E0-9D4E-6136E38E58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24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0" r:id="rId4"/>
    <p:sldLayoutId id="2147483651" r:id="rId5"/>
    <p:sldLayoutId id="2147483653" r:id="rId6"/>
    <p:sldLayoutId id="2147483652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11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5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>
          <a:xfrm>
            <a:off x="80786" y="1709738"/>
            <a:ext cx="11567160" cy="3290887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뉴스알림</a:t>
            </a:r>
            <a:endParaRPr lang="ko-KR" altLang="en-US" sz="8000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3262630" cy="365125"/>
          </a:xfrm>
        </p:spPr>
        <p:txBody>
          <a:bodyPr/>
          <a:lstStyle/>
          <a:p>
            <a:fld id="{DB11A18B-B2DB-47E0-9D4E-6136E38E58F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81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 smtClean="0"/>
              <a:t>문제 분석</a:t>
            </a:r>
            <a:endParaRPr lang="ko-KR" alt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312420" y="1498059"/>
            <a:ext cx="420499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유저는 채널을 구독하고</a:t>
            </a:r>
            <a:endParaRPr lang="en-US" altLang="ko-KR" dirty="0" smtClean="0"/>
          </a:p>
          <a:p>
            <a:r>
              <a:rPr lang="ko-KR" altLang="en-US" dirty="0" smtClean="0"/>
              <a:t>채널은 구독자에게 뉴스를 보내는 문제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6896911" y="1585607"/>
            <a:ext cx="1089498" cy="16439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/>
          <p:cNvGrpSpPr/>
          <p:nvPr/>
        </p:nvGrpSpPr>
        <p:grpSpPr>
          <a:xfrm>
            <a:off x="7155910" y="5088210"/>
            <a:ext cx="571500" cy="809625"/>
            <a:chOff x="926965" y="2352979"/>
            <a:chExt cx="571500" cy="809625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6965" y="2352979"/>
              <a:ext cx="571500" cy="809625"/>
            </a:xfrm>
            <a:prstGeom prst="rect">
              <a:avLst/>
            </a:prstGeom>
            <a:solidFill>
              <a:srgbClr val="000000"/>
            </a:solidFill>
          </p:spPr>
        </p:pic>
        <p:sp>
          <p:nvSpPr>
            <p:cNvPr id="14" name="타원 13"/>
            <p:cNvSpPr/>
            <p:nvPr/>
          </p:nvSpPr>
          <p:spPr>
            <a:xfrm>
              <a:off x="1108952" y="2840477"/>
              <a:ext cx="243193" cy="233464"/>
            </a:xfrm>
            <a:prstGeom prst="ellipse">
              <a:avLst/>
            </a:prstGeom>
            <a:solidFill>
              <a:srgbClr val="00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7110515" y="32470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채널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155910" y="59273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유저</a:t>
            </a:r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 flipH="1" flipV="1">
            <a:off x="6770452" y="3431746"/>
            <a:ext cx="19454" cy="2061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184741" y="2019046"/>
            <a:ext cx="123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 smtClean="0"/>
              <a:t>뉴스 등록</a:t>
            </a:r>
            <a:endParaRPr lang="en-US" altLang="ko-KR" dirty="0" smtClean="0"/>
          </a:p>
          <a:p>
            <a:pPr algn="r"/>
            <a:r>
              <a:rPr lang="en-US" altLang="ko-KR" dirty="0" err="1" smtClean="0">
                <a:solidFill>
                  <a:srgbClr val="0070C0"/>
                </a:solidFill>
              </a:rPr>
              <a:t>offerNews</a:t>
            </a:r>
            <a:endParaRPr lang="ko-KR" altLang="en-US" dirty="0">
              <a:solidFill>
                <a:srgbClr val="0070C0"/>
              </a:solidFill>
            </a:endParaRPr>
          </a:p>
        </p:txBody>
      </p:sp>
      <p:cxnSp>
        <p:nvCxnSpPr>
          <p:cNvPr id="33" name="직선 화살표 연결선 32"/>
          <p:cNvCxnSpPr/>
          <p:nvPr/>
        </p:nvCxnSpPr>
        <p:spPr>
          <a:xfrm flipH="1">
            <a:off x="8184741" y="2821021"/>
            <a:ext cx="1051183" cy="2587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897528" y="3958580"/>
            <a:ext cx="17332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시간이 되면</a:t>
            </a:r>
            <a:endParaRPr lang="en-US" altLang="ko-KR" dirty="0" smtClean="0"/>
          </a:p>
          <a:p>
            <a:r>
              <a:rPr lang="ko-KR" altLang="en-US" dirty="0" smtClean="0"/>
              <a:t>뉴스 전송</a:t>
            </a:r>
            <a:endParaRPr lang="en-US" altLang="ko-KR" dirty="0" smtClean="0"/>
          </a:p>
          <a:p>
            <a:pPr algn="r"/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89906" y="4097080"/>
            <a:ext cx="1431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구독</a:t>
            </a:r>
            <a:endParaRPr lang="en-US" altLang="ko-KR" dirty="0" smtClean="0"/>
          </a:p>
          <a:p>
            <a:r>
              <a:rPr lang="en-US" altLang="ko-KR" dirty="0" err="1" smtClean="0">
                <a:solidFill>
                  <a:srgbClr val="0070C0"/>
                </a:solidFill>
              </a:rPr>
              <a:t>registerUser</a:t>
            </a:r>
            <a:endParaRPr lang="ko-KR" altLang="en-US" dirty="0">
              <a:solidFill>
                <a:srgbClr val="0070C0"/>
              </a:solidFill>
            </a:endParaRPr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769" y="6116556"/>
            <a:ext cx="432655" cy="360228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410" y="5941011"/>
            <a:ext cx="432655" cy="360228"/>
          </a:xfrm>
          <a:prstGeom prst="rect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4504" y="2267009"/>
            <a:ext cx="432655" cy="36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312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 smtClean="0"/>
              <a:t>문제 분석</a:t>
            </a:r>
            <a:endParaRPr lang="ko-KR" alt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312420" y="1498059"/>
            <a:ext cx="4591321" cy="4770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/>
              <a:t>고려해야할 부분</a:t>
            </a:r>
            <a:endParaRPr lang="en-US" altLang="ko-KR" sz="2400" b="1" dirty="0" smtClean="0"/>
          </a:p>
          <a:p>
            <a:endParaRPr lang="en-US" altLang="ko-KR" dirty="0"/>
          </a:p>
          <a:p>
            <a:r>
              <a:rPr lang="en-US" altLang="ko-KR" dirty="0" smtClean="0"/>
              <a:t>1. </a:t>
            </a:r>
            <a:r>
              <a:rPr lang="ko-KR" altLang="en-US" dirty="0" smtClean="0"/>
              <a:t>뉴스 알림 등록 </a:t>
            </a:r>
            <a:r>
              <a:rPr lang="en-US" altLang="ko-KR" dirty="0" smtClean="0"/>
              <a:t>(</a:t>
            </a:r>
            <a:r>
              <a:rPr lang="en-US" altLang="ko-KR" dirty="0" err="1" smtClean="0">
                <a:solidFill>
                  <a:srgbClr val="0070C0"/>
                </a:solidFill>
              </a:rPr>
              <a:t>offerNews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뉴스 알림은 뉴스가 등록되고 </a:t>
            </a:r>
            <a:r>
              <a:rPr lang="en-US" altLang="ko-KR" b="1" dirty="0" err="1" smtClean="0"/>
              <a:t>mDelay</a:t>
            </a:r>
            <a:r>
              <a:rPr lang="ko-KR" altLang="en-US" dirty="0" smtClean="0"/>
              <a:t>후에</a:t>
            </a:r>
            <a:endParaRPr lang="en-US" altLang="ko-KR" dirty="0" smtClean="0"/>
          </a:p>
          <a:p>
            <a:r>
              <a:rPr lang="ko-KR" altLang="en-US" dirty="0" smtClean="0"/>
              <a:t>유저에게 뉴스가 전송됨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sz="1600" dirty="0" err="1" smtClean="0"/>
              <a:t>mDelay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사이에 새로운 구독자가 생기면</a:t>
            </a:r>
            <a:r>
              <a:rPr lang="en-US" altLang="ko-KR" sz="1600" dirty="0"/>
              <a:t/>
            </a:r>
            <a:br>
              <a:rPr lang="en-US" altLang="ko-KR" sz="1600" dirty="0"/>
            </a:br>
            <a:r>
              <a:rPr lang="ko-KR" altLang="en-US" sz="1600" dirty="0" smtClean="0"/>
              <a:t>해당 구독자도 챙겨야함</a:t>
            </a:r>
            <a:endParaRPr lang="en-US" altLang="ko-KR" sz="1600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뉴스 삭제 </a:t>
            </a:r>
            <a:r>
              <a:rPr lang="en-US" altLang="ko-KR" dirty="0" smtClean="0"/>
              <a:t>(</a:t>
            </a:r>
            <a:r>
              <a:rPr lang="en-US" altLang="ko-KR" dirty="0" err="1">
                <a:solidFill>
                  <a:srgbClr val="0070C0"/>
                </a:solidFill>
              </a:rPr>
              <a:t>cancelNews</a:t>
            </a:r>
            <a:r>
              <a:rPr lang="en-US" altLang="ko-KR" dirty="0"/>
              <a:t>)</a:t>
            </a:r>
          </a:p>
          <a:p>
            <a:r>
              <a:rPr lang="ko-KR" altLang="en-US" dirty="0" smtClean="0"/>
              <a:t>등록된 뉴스를 삭제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sz="1600" dirty="0" smtClean="0"/>
              <a:t>이미 유저에게 전송된 뉴스도 </a:t>
            </a:r>
            <a:r>
              <a:rPr lang="ko-KR" altLang="en-US" sz="1600" dirty="0" err="1" smtClean="0"/>
              <a:t>삭제해야함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특정 유저가 받은 뉴스 반환 </a:t>
            </a:r>
            <a:r>
              <a:rPr lang="en-US" altLang="ko-KR" dirty="0" smtClean="0"/>
              <a:t>(</a:t>
            </a:r>
            <a:r>
              <a:rPr lang="en-US" altLang="ko-KR" dirty="0" err="1" smtClean="0">
                <a:solidFill>
                  <a:srgbClr val="0070C0"/>
                </a:solidFill>
              </a:rPr>
              <a:t>checkUser</a:t>
            </a:r>
            <a:r>
              <a:rPr lang="en-US" altLang="ko-KR" dirty="0" smtClean="0"/>
              <a:t>)</a:t>
            </a:r>
          </a:p>
          <a:p>
            <a:r>
              <a:rPr lang="ko-KR" altLang="en-US" dirty="0" err="1" smtClean="0"/>
              <a:t>최신순으로</a:t>
            </a:r>
            <a:r>
              <a:rPr lang="ko-KR" altLang="en-US" dirty="0" smtClean="0"/>
              <a:t> 최대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 </a:t>
            </a:r>
            <a:r>
              <a:rPr lang="ko-KR" altLang="en-US" dirty="0" err="1" smtClean="0"/>
              <a:t>반환해야함</a:t>
            </a:r>
            <a:endParaRPr lang="en-US" altLang="ko-KR" dirty="0"/>
          </a:p>
          <a:p>
            <a:r>
              <a:rPr lang="en-US" altLang="ko-KR" sz="1600" dirty="0" smtClean="0"/>
              <a:t>- </a:t>
            </a:r>
            <a:r>
              <a:rPr lang="ko-KR" altLang="en-US" sz="1600" dirty="0" smtClean="0"/>
              <a:t>각 유저가 받은 뉴스 잘 </a:t>
            </a:r>
            <a:r>
              <a:rPr lang="ko-KR" altLang="en-US" sz="1600" dirty="0" err="1" smtClean="0"/>
              <a:t>관리해야함</a:t>
            </a:r>
            <a:endParaRPr lang="ko-KR" altLang="en-US" sz="1600" dirty="0"/>
          </a:p>
        </p:txBody>
      </p:sp>
      <p:sp>
        <p:nvSpPr>
          <p:cNvPr id="29" name="직사각형 28"/>
          <p:cNvSpPr/>
          <p:nvPr/>
        </p:nvSpPr>
        <p:spPr>
          <a:xfrm>
            <a:off x="6896911" y="1585607"/>
            <a:ext cx="1089498" cy="16439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/>
          <p:cNvGrpSpPr/>
          <p:nvPr/>
        </p:nvGrpSpPr>
        <p:grpSpPr>
          <a:xfrm>
            <a:off x="7155910" y="5088210"/>
            <a:ext cx="571500" cy="809625"/>
            <a:chOff x="926965" y="2352979"/>
            <a:chExt cx="571500" cy="809625"/>
          </a:xfrm>
        </p:grpSpPr>
        <p:pic>
          <p:nvPicPr>
            <p:cNvPr id="34" name="그림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6965" y="2352979"/>
              <a:ext cx="571500" cy="809625"/>
            </a:xfrm>
            <a:prstGeom prst="rect">
              <a:avLst/>
            </a:prstGeom>
            <a:solidFill>
              <a:srgbClr val="000000"/>
            </a:solidFill>
          </p:spPr>
        </p:pic>
        <p:sp>
          <p:nvSpPr>
            <p:cNvPr id="35" name="타원 34"/>
            <p:cNvSpPr/>
            <p:nvPr/>
          </p:nvSpPr>
          <p:spPr>
            <a:xfrm>
              <a:off x="1108952" y="2840477"/>
              <a:ext cx="243193" cy="233464"/>
            </a:xfrm>
            <a:prstGeom prst="ellipse">
              <a:avLst/>
            </a:prstGeom>
            <a:solidFill>
              <a:srgbClr val="00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7110515" y="32470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채널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7155910" y="59273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유저</a:t>
            </a:r>
            <a:endParaRPr lang="ko-KR" altLang="en-US" dirty="0"/>
          </a:p>
        </p:txBody>
      </p:sp>
      <p:cxnSp>
        <p:nvCxnSpPr>
          <p:cNvPr id="39" name="직선 화살표 연결선 38"/>
          <p:cNvCxnSpPr/>
          <p:nvPr/>
        </p:nvCxnSpPr>
        <p:spPr>
          <a:xfrm flipH="1" flipV="1">
            <a:off x="6770452" y="3431746"/>
            <a:ext cx="19454" cy="2061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184741" y="2019046"/>
            <a:ext cx="123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 smtClean="0"/>
              <a:t>뉴스 등록</a:t>
            </a:r>
            <a:endParaRPr lang="en-US" altLang="ko-KR" dirty="0" smtClean="0"/>
          </a:p>
          <a:p>
            <a:pPr algn="r"/>
            <a:r>
              <a:rPr lang="en-US" altLang="ko-KR" dirty="0" err="1" smtClean="0">
                <a:solidFill>
                  <a:srgbClr val="0070C0"/>
                </a:solidFill>
              </a:rPr>
              <a:t>offerNews</a:t>
            </a:r>
            <a:endParaRPr lang="ko-KR" altLang="en-US" dirty="0">
              <a:solidFill>
                <a:srgbClr val="0070C0"/>
              </a:solidFill>
            </a:endParaRPr>
          </a:p>
        </p:txBody>
      </p:sp>
      <p:cxnSp>
        <p:nvCxnSpPr>
          <p:cNvPr id="41" name="직선 화살표 연결선 40"/>
          <p:cNvCxnSpPr/>
          <p:nvPr/>
        </p:nvCxnSpPr>
        <p:spPr>
          <a:xfrm flipH="1">
            <a:off x="8184741" y="2821021"/>
            <a:ext cx="1051183" cy="2587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897528" y="3958580"/>
            <a:ext cx="17332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시간이 되면</a:t>
            </a:r>
            <a:endParaRPr lang="en-US" altLang="ko-KR" dirty="0" smtClean="0"/>
          </a:p>
          <a:p>
            <a:r>
              <a:rPr lang="ko-KR" altLang="en-US" dirty="0" smtClean="0"/>
              <a:t>뉴스 전송</a:t>
            </a:r>
            <a:endParaRPr lang="en-US" altLang="ko-KR" dirty="0" smtClean="0"/>
          </a:p>
          <a:p>
            <a:pPr algn="r"/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789906" y="4097080"/>
            <a:ext cx="1431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구독</a:t>
            </a:r>
            <a:endParaRPr lang="en-US" altLang="ko-KR" dirty="0" smtClean="0"/>
          </a:p>
          <a:p>
            <a:r>
              <a:rPr lang="en-US" altLang="ko-KR" dirty="0" err="1" smtClean="0">
                <a:solidFill>
                  <a:srgbClr val="0070C0"/>
                </a:solidFill>
              </a:rPr>
              <a:t>registerUser</a:t>
            </a:r>
            <a:endParaRPr lang="ko-KR" altLang="en-US" dirty="0">
              <a:solidFill>
                <a:srgbClr val="0070C0"/>
              </a:solidFill>
            </a:endParaRP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769" y="6116556"/>
            <a:ext cx="432655" cy="360228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410" y="5941011"/>
            <a:ext cx="432655" cy="360228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4504" y="2267009"/>
            <a:ext cx="432655" cy="36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23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 smtClean="0"/>
              <a:t>문제 전략</a:t>
            </a:r>
            <a:endParaRPr lang="ko-KR" alt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312420" y="1498059"/>
            <a:ext cx="2969083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/>
              <a:t>뉴스 알림 등록</a:t>
            </a:r>
          </a:p>
          <a:p>
            <a:endParaRPr lang="en-US" altLang="ko-KR" dirty="0"/>
          </a:p>
          <a:p>
            <a:r>
              <a:rPr lang="ko-KR" altLang="en-US" dirty="0" smtClean="0"/>
              <a:t>각 채널에서 등록한 뉴스를</a:t>
            </a:r>
            <a:endParaRPr lang="en-US" altLang="ko-KR" dirty="0" smtClean="0"/>
          </a:p>
          <a:p>
            <a:r>
              <a:rPr lang="ko-KR" altLang="en-US" dirty="0" smtClean="0"/>
              <a:t>한 곳에서 모아서 관리</a:t>
            </a:r>
            <a:endParaRPr lang="en-US" altLang="ko-KR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6629954" y="1580981"/>
            <a:ext cx="447472" cy="8073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556172" y="242790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채널</a:t>
            </a:r>
            <a:endParaRPr lang="ko-KR" altLang="en-US" dirty="0"/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6974732" y="2766459"/>
            <a:ext cx="1108954" cy="1470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541560" y="3454643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 smtClean="0"/>
              <a:t>뉴스 등록</a:t>
            </a:r>
            <a:endParaRPr lang="en-US" altLang="ko-KR" dirty="0" smtClean="0"/>
          </a:p>
        </p:txBody>
      </p:sp>
      <p:sp>
        <p:nvSpPr>
          <p:cNvPr id="32" name="타원 31"/>
          <p:cNvSpPr/>
          <p:nvPr/>
        </p:nvSpPr>
        <p:spPr>
          <a:xfrm>
            <a:off x="8083686" y="4237024"/>
            <a:ext cx="1264596" cy="126459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5696" y="4568415"/>
            <a:ext cx="432655" cy="360228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691" y="4928643"/>
            <a:ext cx="432655" cy="360228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329" y="4443423"/>
            <a:ext cx="432655" cy="3602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90848" y="5501620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어딘가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8215564" y="1594028"/>
            <a:ext cx="447472" cy="8073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8141782" y="244095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채널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9727392" y="1594028"/>
            <a:ext cx="447472" cy="8073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9653610" y="244095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채널</a:t>
            </a:r>
            <a:endParaRPr lang="ko-KR" altLang="en-US" dirty="0"/>
          </a:p>
        </p:txBody>
      </p:sp>
      <p:cxnSp>
        <p:nvCxnSpPr>
          <p:cNvPr id="34" name="직선 화살표 연결선 33"/>
          <p:cNvCxnSpPr/>
          <p:nvPr/>
        </p:nvCxnSpPr>
        <p:spPr>
          <a:xfrm flipH="1">
            <a:off x="9032023" y="2878352"/>
            <a:ext cx="870736" cy="1285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>
            <a:off x="8358437" y="2819033"/>
            <a:ext cx="304599" cy="1311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78424" y="5808761"/>
            <a:ext cx="2887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언제 </a:t>
            </a:r>
            <a:r>
              <a:rPr lang="ko-KR" altLang="en-US" dirty="0" err="1" smtClean="0"/>
              <a:t>보낼건지</a:t>
            </a:r>
            <a:endParaRPr lang="en-US" altLang="ko-KR" dirty="0" smtClean="0"/>
          </a:p>
          <a:p>
            <a:r>
              <a:rPr lang="ko-KR" altLang="en-US" dirty="0" smtClean="0"/>
              <a:t>어디 채널에서 </a:t>
            </a:r>
            <a:r>
              <a:rPr lang="ko-KR" altLang="en-US" dirty="0" err="1" smtClean="0"/>
              <a:t>등록한건지</a:t>
            </a:r>
            <a:endParaRPr lang="en-US" altLang="ko-KR" dirty="0" smtClean="0"/>
          </a:p>
        </p:txBody>
      </p:sp>
      <p:cxnSp>
        <p:nvCxnSpPr>
          <p:cNvPr id="39" name="직선 화살표 연결선 38"/>
          <p:cNvCxnSpPr/>
          <p:nvPr/>
        </p:nvCxnSpPr>
        <p:spPr>
          <a:xfrm>
            <a:off x="9027480" y="4941041"/>
            <a:ext cx="408159" cy="804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68" y="4320539"/>
            <a:ext cx="5543550" cy="295275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751" y="4609293"/>
            <a:ext cx="5429250" cy="314325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30" y="4890258"/>
            <a:ext cx="3429000" cy="323850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751" y="5213501"/>
            <a:ext cx="4038600" cy="285750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668" y="5586488"/>
            <a:ext cx="4864913" cy="35822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12420" y="3832003"/>
            <a:ext cx="3789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함수 </a:t>
            </a:r>
            <a:r>
              <a:rPr lang="ko-KR" altLang="en-US" dirty="0" err="1" smtClean="0"/>
              <a:t>호출시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시간이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mTime</a:t>
            </a:r>
            <a:r>
              <a:rPr lang="en-US" altLang="ko-KR" dirty="0" smtClean="0"/>
              <a:t>)</a:t>
            </a:r>
            <a:r>
              <a:rPr lang="ko-KR" altLang="en-US" dirty="0" smtClean="0"/>
              <a:t>주어짐</a:t>
            </a:r>
            <a:endParaRPr lang="en-US" altLang="ko-KR" dirty="0" smtClean="0"/>
          </a:p>
        </p:txBody>
      </p:sp>
      <p:sp>
        <p:nvSpPr>
          <p:cNvPr id="45" name="직사각형 44"/>
          <p:cNvSpPr/>
          <p:nvPr/>
        </p:nvSpPr>
        <p:spPr>
          <a:xfrm>
            <a:off x="1877439" y="4348104"/>
            <a:ext cx="906320" cy="1170189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480600" y="6079533"/>
                <a:ext cx="574798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 smtClean="0"/>
                  <a:t>-&gt; </a:t>
                </a:r>
                <a:r>
                  <a:rPr lang="en-US" altLang="ko-KR" dirty="0" err="1" smtClean="0"/>
                  <a:t>pq</a:t>
                </a:r>
                <a:r>
                  <a:rPr lang="ko-KR" altLang="en-US" dirty="0" smtClean="0"/>
                  <a:t>를 이용하여 시간 순으로 뉴스를 관리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𝑁</m:t>
                    </m:r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r>
                  <a:rPr lang="ko-KR" altLang="en-US" dirty="0" smtClean="0"/>
                  <a:t>최대 </a:t>
                </a:r>
                <a:r>
                  <a:rPr lang="en-US" altLang="ko-KR" dirty="0" smtClean="0"/>
                  <a:t>30,000</a:t>
                </a:r>
                <a:r>
                  <a:rPr lang="ko-KR" altLang="en-US" dirty="0" smtClean="0"/>
                  <a:t>개의 뉴스가 등록됨</a:t>
                </a:r>
                <a:endParaRPr lang="en-US" altLang="ko-KR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00" y="6079533"/>
                <a:ext cx="5747984" cy="646331"/>
              </a:xfrm>
              <a:prstGeom prst="rect">
                <a:avLst/>
              </a:prstGeom>
              <a:blipFill>
                <a:blip r:embed="rId9"/>
                <a:stretch>
                  <a:fillRect l="-954" t="-4717" r="-424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" name="그림 4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9828" y="1211123"/>
            <a:ext cx="541972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9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46447" y="361366"/>
            <a:ext cx="9679305" cy="930769"/>
          </a:xfrm>
        </p:spPr>
        <p:txBody>
          <a:bodyPr>
            <a:normAutofit/>
          </a:bodyPr>
          <a:lstStyle/>
          <a:p>
            <a:r>
              <a:rPr lang="ko-KR" altLang="en-US" sz="3600" dirty="0" smtClean="0"/>
              <a:t>문제 전략</a:t>
            </a:r>
            <a:endParaRPr lang="ko-KR" alt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312420" y="1498059"/>
            <a:ext cx="15247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/>
              <a:t>뉴스 삭제</a:t>
            </a:r>
          </a:p>
          <a:p>
            <a:endParaRPr lang="en-US" altLang="ko-KR" dirty="0"/>
          </a:p>
        </p:txBody>
      </p:sp>
      <p:grpSp>
        <p:nvGrpSpPr>
          <p:cNvPr id="33" name="그룹 32"/>
          <p:cNvGrpSpPr/>
          <p:nvPr/>
        </p:nvGrpSpPr>
        <p:grpSpPr>
          <a:xfrm>
            <a:off x="7637551" y="2139088"/>
            <a:ext cx="571500" cy="809625"/>
            <a:chOff x="926965" y="2352979"/>
            <a:chExt cx="571500" cy="809625"/>
          </a:xfrm>
        </p:grpSpPr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6965" y="2352979"/>
              <a:ext cx="571500" cy="809625"/>
            </a:xfrm>
            <a:prstGeom prst="rect">
              <a:avLst/>
            </a:prstGeom>
            <a:solidFill>
              <a:srgbClr val="000000"/>
            </a:solidFill>
          </p:spPr>
        </p:pic>
        <p:sp>
          <p:nvSpPr>
            <p:cNvPr id="38" name="타원 37"/>
            <p:cNvSpPr/>
            <p:nvPr/>
          </p:nvSpPr>
          <p:spPr>
            <a:xfrm>
              <a:off x="1108952" y="2840477"/>
              <a:ext cx="243193" cy="233464"/>
            </a:xfrm>
            <a:prstGeom prst="ellipse">
              <a:avLst/>
            </a:prstGeom>
            <a:solidFill>
              <a:srgbClr val="00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7637551" y="297821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유저</a:t>
            </a:r>
            <a:endParaRPr lang="ko-KR" altLang="en-US" dirty="0"/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410" y="3167434"/>
            <a:ext cx="432655" cy="360228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051" y="2991889"/>
            <a:ext cx="432655" cy="360228"/>
          </a:xfrm>
          <a:prstGeom prst="rect">
            <a:avLst/>
          </a:prstGeom>
        </p:spPr>
      </p:pic>
      <p:grpSp>
        <p:nvGrpSpPr>
          <p:cNvPr id="51" name="그룹 50"/>
          <p:cNvGrpSpPr/>
          <p:nvPr/>
        </p:nvGrpSpPr>
        <p:grpSpPr>
          <a:xfrm>
            <a:off x="9068073" y="2139088"/>
            <a:ext cx="571500" cy="809625"/>
            <a:chOff x="926965" y="2352979"/>
            <a:chExt cx="571500" cy="809625"/>
          </a:xfrm>
        </p:grpSpPr>
        <p:pic>
          <p:nvPicPr>
            <p:cNvPr id="52" name="그림 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6965" y="2352979"/>
              <a:ext cx="571500" cy="809625"/>
            </a:xfrm>
            <a:prstGeom prst="rect">
              <a:avLst/>
            </a:prstGeom>
            <a:solidFill>
              <a:srgbClr val="000000"/>
            </a:solidFill>
          </p:spPr>
        </p:pic>
        <p:sp>
          <p:nvSpPr>
            <p:cNvPr id="53" name="타원 52"/>
            <p:cNvSpPr/>
            <p:nvPr/>
          </p:nvSpPr>
          <p:spPr>
            <a:xfrm>
              <a:off x="1108952" y="2840477"/>
              <a:ext cx="243193" cy="233464"/>
            </a:xfrm>
            <a:prstGeom prst="ellipse">
              <a:avLst/>
            </a:prstGeom>
            <a:solidFill>
              <a:srgbClr val="00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9068073" y="297821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유저</a:t>
            </a:r>
            <a:endParaRPr lang="ko-KR" altLang="en-US" dirty="0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0932" y="3167434"/>
            <a:ext cx="432655" cy="360228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573" y="2991889"/>
            <a:ext cx="432655" cy="360228"/>
          </a:xfrm>
          <a:prstGeom prst="rect">
            <a:avLst/>
          </a:prstGeom>
        </p:spPr>
      </p:pic>
      <p:grpSp>
        <p:nvGrpSpPr>
          <p:cNvPr id="57" name="그룹 56"/>
          <p:cNvGrpSpPr/>
          <p:nvPr/>
        </p:nvGrpSpPr>
        <p:grpSpPr>
          <a:xfrm>
            <a:off x="10647170" y="2139088"/>
            <a:ext cx="571500" cy="809625"/>
            <a:chOff x="926965" y="2352979"/>
            <a:chExt cx="571500" cy="809625"/>
          </a:xfrm>
        </p:grpSpPr>
        <p:pic>
          <p:nvPicPr>
            <p:cNvPr id="58" name="그림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6965" y="2352979"/>
              <a:ext cx="571500" cy="809625"/>
            </a:xfrm>
            <a:prstGeom prst="rect">
              <a:avLst/>
            </a:prstGeom>
            <a:solidFill>
              <a:srgbClr val="000000"/>
            </a:solidFill>
          </p:spPr>
        </p:pic>
        <p:sp>
          <p:nvSpPr>
            <p:cNvPr id="59" name="타원 58"/>
            <p:cNvSpPr/>
            <p:nvPr/>
          </p:nvSpPr>
          <p:spPr>
            <a:xfrm>
              <a:off x="1108952" y="2840477"/>
              <a:ext cx="243193" cy="233464"/>
            </a:xfrm>
            <a:prstGeom prst="ellipse">
              <a:avLst/>
            </a:prstGeom>
            <a:solidFill>
              <a:srgbClr val="00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10647170" y="2978216"/>
            <a:ext cx="646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유저</a:t>
            </a:r>
            <a:endParaRPr lang="ko-KR" altLang="en-US" dirty="0"/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29" y="3167434"/>
            <a:ext cx="432655" cy="360228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8670" y="2991889"/>
            <a:ext cx="432655" cy="360228"/>
          </a:xfrm>
          <a:prstGeom prst="rect">
            <a:avLst/>
          </a:prstGeom>
        </p:spPr>
      </p:pic>
      <p:sp>
        <p:nvSpPr>
          <p:cNvPr id="63" name="타원 62"/>
          <p:cNvSpPr/>
          <p:nvPr/>
        </p:nvSpPr>
        <p:spPr>
          <a:xfrm>
            <a:off x="4736043" y="2139088"/>
            <a:ext cx="1264596" cy="126459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4" name="그림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053" y="2470479"/>
            <a:ext cx="432655" cy="360228"/>
          </a:xfrm>
          <a:prstGeom prst="rect">
            <a:avLst/>
          </a:prstGeom>
        </p:spPr>
      </p:pic>
      <p:pic>
        <p:nvPicPr>
          <p:cNvPr id="65" name="그림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048" y="2830707"/>
            <a:ext cx="432655" cy="360228"/>
          </a:xfrm>
          <a:prstGeom prst="rect">
            <a:avLst/>
          </a:prstGeom>
        </p:spPr>
      </p:pic>
      <p:pic>
        <p:nvPicPr>
          <p:cNvPr id="66" name="그림 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686" y="2345487"/>
            <a:ext cx="432655" cy="3602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782283" y="3422409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어딘가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pq</a:t>
            </a:r>
            <a:r>
              <a:rPr lang="en-US" altLang="ko-KR" sz="1600" dirty="0" smtClean="0"/>
              <a:t>)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03024" y="1639820"/>
            <a:ext cx="3357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en-US" altLang="ko-KR" dirty="0" err="1" smtClean="0"/>
              <a:t>pq</a:t>
            </a:r>
            <a:r>
              <a:rPr lang="ko-KR" altLang="en-US" dirty="0" smtClean="0"/>
              <a:t>에 해당 뉴스가 있는 경우</a:t>
            </a:r>
            <a:endParaRPr lang="ko-KR" alt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7545337" y="1630932"/>
            <a:ext cx="2997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유저가 뉴스를 받은 경우</a:t>
            </a:r>
            <a:endParaRPr lang="ko-KR" altLang="en-US" dirty="0"/>
          </a:p>
        </p:txBody>
      </p:sp>
      <p:grpSp>
        <p:nvGrpSpPr>
          <p:cNvPr id="15" name="그룹 14"/>
          <p:cNvGrpSpPr/>
          <p:nvPr/>
        </p:nvGrpSpPr>
        <p:grpSpPr>
          <a:xfrm>
            <a:off x="5526199" y="2492153"/>
            <a:ext cx="316361" cy="330740"/>
            <a:chOff x="3219853" y="5038928"/>
            <a:chExt cx="642028" cy="671208"/>
          </a:xfrm>
        </p:grpSpPr>
        <p:cxnSp>
          <p:nvCxnSpPr>
            <p:cNvPr id="9" name="직선 연결선 8"/>
            <p:cNvCxnSpPr/>
            <p:nvPr/>
          </p:nvCxnSpPr>
          <p:spPr>
            <a:xfrm>
              <a:off x="3219853" y="5038928"/>
              <a:ext cx="642026" cy="67120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 flipV="1">
              <a:off x="3219855" y="5038928"/>
              <a:ext cx="642026" cy="67120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그룹 68"/>
          <p:cNvGrpSpPr/>
          <p:nvPr/>
        </p:nvGrpSpPr>
        <p:grpSpPr>
          <a:xfrm>
            <a:off x="8252778" y="2973647"/>
            <a:ext cx="316361" cy="330740"/>
            <a:chOff x="3219853" y="5038928"/>
            <a:chExt cx="642028" cy="671208"/>
          </a:xfrm>
        </p:grpSpPr>
        <p:cxnSp>
          <p:nvCxnSpPr>
            <p:cNvPr id="70" name="직선 연결선 69"/>
            <p:cNvCxnSpPr/>
            <p:nvPr/>
          </p:nvCxnSpPr>
          <p:spPr>
            <a:xfrm>
              <a:off x="3219853" y="5038928"/>
              <a:ext cx="642026" cy="67120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 flipV="1">
              <a:off x="3219855" y="5038928"/>
              <a:ext cx="642026" cy="67120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그룹 71"/>
          <p:cNvGrpSpPr/>
          <p:nvPr/>
        </p:nvGrpSpPr>
        <p:grpSpPr>
          <a:xfrm>
            <a:off x="9670482" y="2976078"/>
            <a:ext cx="316361" cy="330740"/>
            <a:chOff x="3219853" y="5038928"/>
            <a:chExt cx="642028" cy="671208"/>
          </a:xfrm>
        </p:grpSpPr>
        <p:cxnSp>
          <p:nvCxnSpPr>
            <p:cNvPr id="73" name="직선 연결선 72"/>
            <p:cNvCxnSpPr/>
            <p:nvPr/>
          </p:nvCxnSpPr>
          <p:spPr>
            <a:xfrm>
              <a:off x="3219853" y="5038928"/>
              <a:ext cx="642026" cy="67120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 flipV="1">
              <a:off x="3219855" y="5038928"/>
              <a:ext cx="642026" cy="67120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그룹 74"/>
          <p:cNvGrpSpPr/>
          <p:nvPr/>
        </p:nvGrpSpPr>
        <p:grpSpPr>
          <a:xfrm>
            <a:off x="11281454" y="2983587"/>
            <a:ext cx="316361" cy="330740"/>
            <a:chOff x="3219853" y="5038928"/>
            <a:chExt cx="642028" cy="671208"/>
          </a:xfrm>
        </p:grpSpPr>
        <p:cxnSp>
          <p:nvCxnSpPr>
            <p:cNvPr id="76" name="직선 연결선 75"/>
            <p:cNvCxnSpPr/>
            <p:nvPr/>
          </p:nvCxnSpPr>
          <p:spPr>
            <a:xfrm>
              <a:off x="3219853" y="5038928"/>
              <a:ext cx="642026" cy="67120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/>
            <p:cNvCxnSpPr/>
            <p:nvPr/>
          </p:nvCxnSpPr>
          <p:spPr>
            <a:xfrm flipV="1">
              <a:off x="3219855" y="5038928"/>
              <a:ext cx="642026" cy="67120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7548825" y="4148010"/>
            <a:ext cx="38908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유저 </a:t>
            </a:r>
            <a:r>
              <a:rPr lang="en-US" altLang="ko-KR" dirty="0" smtClean="0"/>
              <a:t>500</a:t>
            </a:r>
            <a:r>
              <a:rPr lang="ko-KR" altLang="en-US" dirty="0" smtClean="0"/>
              <a:t>명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각자 받은 뉴스 </a:t>
            </a:r>
            <a:r>
              <a:rPr lang="en-US" altLang="ko-KR" dirty="0" smtClean="0"/>
              <a:t>8,000</a:t>
            </a:r>
            <a:r>
              <a:rPr lang="ko-KR" altLang="en-US" dirty="0" smtClean="0"/>
              <a:t>개</a:t>
            </a:r>
            <a:endParaRPr lang="en-US" altLang="ko-KR" dirty="0" smtClean="0"/>
          </a:p>
          <a:p>
            <a:r>
              <a:rPr lang="ko-KR" altLang="en-US" dirty="0" smtClean="0"/>
              <a:t>뉴스 삭제 </a:t>
            </a:r>
            <a:r>
              <a:rPr lang="en-US" altLang="ko-KR" dirty="0" smtClean="0"/>
              <a:t>3,000</a:t>
            </a:r>
            <a:r>
              <a:rPr lang="ko-KR" altLang="en-US" dirty="0" smtClean="0"/>
              <a:t>번 호출</a:t>
            </a:r>
            <a:endParaRPr lang="en-US" altLang="ko-KR" dirty="0" smtClean="0"/>
          </a:p>
          <a:p>
            <a:r>
              <a:rPr lang="en-US" altLang="ko-KR" dirty="0" smtClean="0"/>
              <a:t>8000 * </a:t>
            </a:r>
            <a:r>
              <a:rPr lang="en-US" altLang="ko-KR" dirty="0"/>
              <a:t>5</a:t>
            </a:r>
            <a:r>
              <a:rPr lang="en-US" altLang="ko-KR" dirty="0" smtClean="0"/>
              <a:t>00 * 3000 = </a:t>
            </a:r>
            <a:r>
              <a:rPr lang="en-US" altLang="ko-KR" dirty="0" smtClean="0">
                <a:solidFill>
                  <a:srgbClr val="FF0000"/>
                </a:solidFill>
              </a:rPr>
              <a:t>120</a:t>
            </a:r>
            <a:r>
              <a:rPr lang="ko-KR" altLang="en-US" dirty="0" smtClean="0">
                <a:solidFill>
                  <a:srgbClr val="FF0000"/>
                </a:solidFill>
              </a:rPr>
              <a:t>억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93531" y="5172478"/>
            <a:ext cx="2887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직접</a:t>
            </a:r>
            <a:r>
              <a:rPr lang="en-US" altLang="ko-KR" dirty="0" smtClean="0"/>
              <a:t> </a:t>
            </a:r>
            <a:r>
              <a:rPr lang="ko-KR" altLang="en-US" dirty="0" smtClean="0"/>
              <a:t>삭제하지 말고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삭제된 뉴스라고 표시하자</a:t>
            </a:r>
            <a:endParaRPr lang="ko-KR" altLang="en-US" dirty="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6352" y="5072573"/>
            <a:ext cx="4802699" cy="1492472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3759109" y="5982512"/>
            <a:ext cx="1609232" cy="1824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1688" y="1299380"/>
            <a:ext cx="3409950" cy="276225"/>
          </a:xfrm>
          <a:prstGeom prst="rect">
            <a:avLst/>
          </a:prstGeom>
        </p:spPr>
      </p:pic>
      <p:pic>
        <p:nvPicPr>
          <p:cNvPr id="79" name="그림 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4534" y="3707946"/>
            <a:ext cx="4248150" cy="238125"/>
          </a:xfrm>
          <a:prstGeom prst="rect">
            <a:avLst/>
          </a:prstGeom>
        </p:spPr>
      </p:pic>
      <p:pic>
        <p:nvPicPr>
          <p:cNvPr id="80" name="그림 7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8384" y="3940338"/>
            <a:ext cx="3876675" cy="23812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46447" y="2057114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뉴스를 직접 삭제한다면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121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46447" y="361366"/>
            <a:ext cx="9679305" cy="930769"/>
          </a:xfrm>
        </p:spPr>
        <p:txBody>
          <a:bodyPr>
            <a:normAutofit/>
          </a:bodyPr>
          <a:lstStyle/>
          <a:p>
            <a:r>
              <a:rPr lang="ko-KR" altLang="en-US" sz="3600" dirty="0" smtClean="0"/>
              <a:t>문제 전략</a:t>
            </a:r>
            <a:endParaRPr lang="ko-KR" alt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312420" y="1498059"/>
            <a:ext cx="328166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/>
              <a:t>유저가 받은 뉴스 반환</a:t>
            </a:r>
          </a:p>
          <a:p>
            <a:endParaRPr lang="en-US" altLang="ko-KR" dirty="0"/>
          </a:p>
        </p:txBody>
      </p:sp>
      <p:grpSp>
        <p:nvGrpSpPr>
          <p:cNvPr id="47" name="그룹 46"/>
          <p:cNvGrpSpPr/>
          <p:nvPr/>
        </p:nvGrpSpPr>
        <p:grpSpPr>
          <a:xfrm>
            <a:off x="6387424" y="2004542"/>
            <a:ext cx="571500" cy="809625"/>
            <a:chOff x="926965" y="2352979"/>
            <a:chExt cx="571500" cy="809625"/>
          </a:xfrm>
        </p:grpSpPr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6965" y="2352979"/>
              <a:ext cx="571500" cy="809625"/>
            </a:xfrm>
            <a:prstGeom prst="rect">
              <a:avLst/>
            </a:prstGeom>
            <a:solidFill>
              <a:srgbClr val="000000"/>
            </a:solidFill>
          </p:spPr>
        </p:pic>
        <p:sp>
          <p:nvSpPr>
            <p:cNvPr id="79" name="타원 78"/>
            <p:cNvSpPr/>
            <p:nvPr/>
          </p:nvSpPr>
          <p:spPr>
            <a:xfrm>
              <a:off x="1108952" y="2840477"/>
              <a:ext cx="243193" cy="233464"/>
            </a:xfrm>
            <a:prstGeom prst="ellipse">
              <a:avLst/>
            </a:prstGeom>
            <a:solidFill>
              <a:srgbClr val="00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6387424" y="28436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유저</a:t>
            </a:r>
            <a:endParaRPr lang="ko-KR" altLang="en-US" dirty="0"/>
          </a:p>
        </p:txBody>
      </p:sp>
      <p:pic>
        <p:nvPicPr>
          <p:cNvPr id="81" name="그림 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309" y="3165257"/>
            <a:ext cx="432655" cy="360228"/>
          </a:xfrm>
          <a:prstGeom prst="rect">
            <a:avLst/>
          </a:prstGeom>
        </p:spPr>
      </p:pic>
      <p:pic>
        <p:nvPicPr>
          <p:cNvPr id="82" name="그림 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950" y="2989712"/>
            <a:ext cx="432655" cy="36022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4050" y="1571056"/>
            <a:ext cx="4000500" cy="333375"/>
          </a:xfrm>
          <a:prstGeom prst="rect">
            <a:avLst/>
          </a:prstGeom>
        </p:spPr>
      </p:pic>
      <p:pic>
        <p:nvPicPr>
          <p:cNvPr id="83" name="그림 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591" y="2814167"/>
            <a:ext cx="432655" cy="360228"/>
          </a:xfrm>
          <a:prstGeom prst="rect">
            <a:avLst/>
          </a:prstGeom>
        </p:spPr>
      </p:pic>
      <p:pic>
        <p:nvPicPr>
          <p:cNvPr id="84" name="그림 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636" y="3072916"/>
            <a:ext cx="432655" cy="360228"/>
          </a:xfrm>
          <a:prstGeom prst="rect">
            <a:avLst/>
          </a:prstGeom>
        </p:spPr>
      </p:pic>
      <p:pic>
        <p:nvPicPr>
          <p:cNvPr id="85" name="그림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277" y="2897371"/>
            <a:ext cx="432655" cy="360228"/>
          </a:xfrm>
          <a:prstGeom prst="rect">
            <a:avLst/>
          </a:prstGeom>
        </p:spPr>
      </p:pic>
      <p:pic>
        <p:nvPicPr>
          <p:cNvPr id="86" name="그림 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918" y="2721826"/>
            <a:ext cx="432655" cy="360228"/>
          </a:xfrm>
          <a:prstGeom prst="rect">
            <a:avLst/>
          </a:prstGeom>
        </p:spPr>
      </p:pic>
      <p:pic>
        <p:nvPicPr>
          <p:cNvPr id="87" name="그림 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675" y="2969091"/>
            <a:ext cx="432655" cy="360228"/>
          </a:xfrm>
          <a:prstGeom prst="rect">
            <a:avLst/>
          </a:prstGeom>
        </p:spPr>
      </p:pic>
      <p:pic>
        <p:nvPicPr>
          <p:cNvPr id="88" name="그림 8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316" y="2793546"/>
            <a:ext cx="432655" cy="360228"/>
          </a:xfrm>
          <a:prstGeom prst="rect">
            <a:avLst/>
          </a:prstGeom>
        </p:spPr>
      </p:pic>
      <p:pic>
        <p:nvPicPr>
          <p:cNvPr id="89" name="그림 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957" y="2618001"/>
            <a:ext cx="432655" cy="360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7452" y="2210503"/>
            <a:ext cx="27158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최신 뉴스 최대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 반환</a:t>
            </a:r>
            <a:endParaRPr lang="en-US" altLang="ko-KR" dirty="0" smtClean="0"/>
          </a:p>
          <a:p>
            <a:r>
              <a:rPr lang="ko-KR" altLang="en-US" sz="1600" dirty="0" smtClean="0"/>
              <a:t>뉴스가 전송된 시간↑</a:t>
            </a:r>
            <a:endParaRPr lang="en-US" altLang="ko-KR" sz="1600" dirty="0" smtClean="0"/>
          </a:p>
          <a:p>
            <a:r>
              <a:rPr lang="ko-KR" altLang="en-US" sz="1600" dirty="0" smtClean="0"/>
              <a:t>뉴스</a:t>
            </a:r>
            <a:r>
              <a:rPr lang="en-US" altLang="ko-KR" sz="1600" dirty="0" smtClean="0"/>
              <a:t>ID</a:t>
            </a:r>
            <a:r>
              <a:rPr lang="ko-KR" altLang="en-US" sz="1600" dirty="0" smtClean="0"/>
              <a:t>↑</a:t>
            </a:r>
            <a:endParaRPr lang="en-US" altLang="ko-KR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346447" y="493220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정렬이 필요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52089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46447" y="361366"/>
            <a:ext cx="9679305" cy="930769"/>
          </a:xfrm>
        </p:spPr>
        <p:txBody>
          <a:bodyPr>
            <a:normAutofit/>
          </a:bodyPr>
          <a:lstStyle/>
          <a:p>
            <a:r>
              <a:rPr lang="ko-KR" altLang="en-US" sz="3600" dirty="0" smtClean="0"/>
              <a:t>문제 전략</a:t>
            </a:r>
            <a:endParaRPr lang="ko-KR" alt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346447" y="1809631"/>
            <a:ext cx="3664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받은 뉴스들을 </a:t>
            </a:r>
            <a:r>
              <a:rPr lang="en-US" altLang="ko-KR" dirty="0" err="1" smtClean="0"/>
              <a:t>pq</a:t>
            </a:r>
            <a:r>
              <a:rPr lang="ko-KR" altLang="en-US" dirty="0" smtClean="0"/>
              <a:t>로 들고 있다면</a:t>
            </a:r>
            <a:r>
              <a:rPr lang="en-US" altLang="ko-KR" dirty="0" smtClean="0"/>
              <a:t>?</a:t>
            </a:r>
          </a:p>
          <a:p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47" y="3855122"/>
            <a:ext cx="3867150" cy="266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346447" y="4293736"/>
                <a:ext cx="51780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600" dirty="0" smtClean="0"/>
                  <a:t>사람이 </a:t>
                </a:r>
                <a:r>
                  <a:rPr lang="en-US" altLang="ko-KR" sz="1600" dirty="0" smtClean="0"/>
                  <a:t>133</a:t>
                </a:r>
                <a:r>
                  <a:rPr lang="ko-KR" altLang="en-US" sz="1600" dirty="0" smtClean="0"/>
                  <a:t>명</a:t>
                </a:r>
                <a:r>
                  <a:rPr lang="en-US" altLang="ko-KR" sz="1600" dirty="0" smtClean="0"/>
                  <a:t>, </a:t>
                </a:r>
                <a:r>
                  <a:rPr lang="ko-KR" altLang="en-US" sz="1600" dirty="0" smtClean="0"/>
                  <a:t>각자 </a:t>
                </a:r>
                <a:r>
                  <a:rPr lang="en-US" altLang="ko-KR" sz="1600" dirty="0" smtClean="0"/>
                  <a:t>30,000</a:t>
                </a:r>
                <a:r>
                  <a:rPr lang="ko-KR" altLang="en-US" sz="1600" dirty="0" smtClean="0"/>
                  <a:t>개의 뉴스를 들고 있는 경우</a:t>
                </a:r>
                <a:endParaRPr lang="en-US" altLang="ko-KR" sz="160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30,000</m:t>
                    </m:r>
                    <m:func>
                      <m:func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30,000 ∗133</m:t>
                        </m:r>
                      </m:e>
                    </m:func>
                  </m:oMath>
                </a14:m>
                <a:r>
                  <a:rPr lang="ko-KR" altLang="en-US" sz="1600" dirty="0" smtClean="0"/>
                  <a:t> </a:t>
                </a:r>
                <a:r>
                  <a:rPr lang="en-US" altLang="ko-KR" sz="1600" dirty="0" smtClean="0"/>
                  <a:t>-&gt; 6</a:t>
                </a:r>
                <a:r>
                  <a:rPr lang="ko-KR" altLang="en-US" sz="1600" dirty="0" smtClean="0"/>
                  <a:t>천만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47" y="4293736"/>
                <a:ext cx="5178021" cy="584775"/>
              </a:xfrm>
              <a:prstGeom prst="rect">
                <a:avLst/>
              </a:prstGeom>
              <a:blipFill>
                <a:blip r:embed="rId4"/>
                <a:stretch>
                  <a:fillRect l="-707" t="-4167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346447" y="5476670"/>
                <a:ext cx="506420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600" dirty="0" smtClean="0"/>
                  <a:t>사람이 </a:t>
                </a:r>
                <a:r>
                  <a:rPr lang="en-US" altLang="ko-KR" sz="1600" dirty="0" smtClean="0"/>
                  <a:t>500</a:t>
                </a:r>
                <a:r>
                  <a:rPr lang="ko-KR" altLang="en-US" sz="1600" dirty="0" smtClean="0"/>
                  <a:t>명</a:t>
                </a:r>
                <a:r>
                  <a:rPr lang="en-US" altLang="ko-KR" sz="1600" dirty="0" smtClean="0"/>
                  <a:t>, </a:t>
                </a:r>
                <a:r>
                  <a:rPr lang="ko-KR" altLang="en-US" sz="1600" dirty="0" smtClean="0"/>
                  <a:t>각자 </a:t>
                </a:r>
                <a:r>
                  <a:rPr lang="en-US" altLang="ko-KR" sz="1600" dirty="0" smtClean="0"/>
                  <a:t>8,000</a:t>
                </a:r>
                <a:r>
                  <a:rPr lang="ko-KR" altLang="en-US" sz="1600" dirty="0" smtClean="0"/>
                  <a:t>개의 뉴스를 들고 있는 경우</a:t>
                </a:r>
                <a:endParaRPr lang="en-US" altLang="ko-KR" sz="160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,000</m:t>
                    </m:r>
                    <m:func>
                      <m:func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8,000</m:t>
                        </m:r>
                      </m:e>
                    </m:func>
                  </m:oMath>
                </a14:m>
                <a:r>
                  <a:rPr lang="ko-KR" altLang="en-US" sz="1600" dirty="0" smtClean="0"/>
                  <a:t> </a:t>
                </a:r>
                <a:r>
                  <a:rPr lang="en-US" altLang="ko-KR" sz="1600" dirty="0" smtClean="0"/>
                  <a:t>* 500</a:t>
                </a:r>
                <a:r>
                  <a:rPr lang="ko-KR" altLang="en-US" sz="1600" dirty="0" smtClean="0"/>
                  <a:t> </a:t>
                </a:r>
                <a:r>
                  <a:rPr lang="en-US" altLang="ko-KR" sz="1600" dirty="0" smtClean="0"/>
                  <a:t>-&gt; 5</a:t>
                </a:r>
                <a:r>
                  <a:rPr lang="ko-KR" altLang="en-US" sz="1600" dirty="0" smtClean="0"/>
                  <a:t>천만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47" y="5476670"/>
                <a:ext cx="5064207" cy="584775"/>
              </a:xfrm>
              <a:prstGeom prst="rect">
                <a:avLst/>
              </a:prstGeom>
              <a:blipFill>
                <a:blip r:embed="rId5"/>
                <a:stretch>
                  <a:fillRect l="-722" t="-4167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77" y="3584699"/>
            <a:ext cx="4229100" cy="257175"/>
          </a:xfrm>
          <a:prstGeom prst="rect">
            <a:avLst/>
          </a:prstGeom>
        </p:spPr>
      </p:pic>
      <p:grpSp>
        <p:nvGrpSpPr>
          <p:cNvPr id="24" name="그룹 23"/>
          <p:cNvGrpSpPr/>
          <p:nvPr/>
        </p:nvGrpSpPr>
        <p:grpSpPr>
          <a:xfrm>
            <a:off x="8936071" y="1606480"/>
            <a:ext cx="571500" cy="809625"/>
            <a:chOff x="926965" y="2352979"/>
            <a:chExt cx="571500" cy="809625"/>
          </a:xfrm>
        </p:grpSpPr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6965" y="2352979"/>
              <a:ext cx="571500" cy="809625"/>
            </a:xfrm>
            <a:prstGeom prst="rect">
              <a:avLst/>
            </a:prstGeom>
            <a:solidFill>
              <a:srgbClr val="000000"/>
            </a:solidFill>
          </p:spPr>
        </p:pic>
        <p:sp>
          <p:nvSpPr>
            <p:cNvPr id="26" name="타원 25"/>
            <p:cNvSpPr/>
            <p:nvPr/>
          </p:nvSpPr>
          <p:spPr>
            <a:xfrm>
              <a:off x="1108952" y="2840477"/>
              <a:ext cx="243193" cy="233464"/>
            </a:xfrm>
            <a:prstGeom prst="ellipse">
              <a:avLst/>
            </a:prstGeom>
            <a:solidFill>
              <a:srgbClr val="00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8936071" y="244560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유저</a:t>
            </a:r>
            <a:endParaRPr lang="ko-KR" altLang="en-US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5956" y="2767195"/>
            <a:ext cx="432655" cy="360228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4597" y="2591650"/>
            <a:ext cx="432655" cy="360228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3238" y="2416105"/>
            <a:ext cx="432655" cy="360228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2283" y="2674854"/>
            <a:ext cx="432655" cy="360228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0924" y="2499309"/>
            <a:ext cx="432655" cy="360228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9565" y="2323764"/>
            <a:ext cx="432655" cy="360228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9322" y="2571029"/>
            <a:ext cx="432655" cy="360228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963" y="2395484"/>
            <a:ext cx="432655" cy="360228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6604" y="2219939"/>
            <a:ext cx="432655" cy="36022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3124" y="5255259"/>
            <a:ext cx="5170251" cy="5595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2230" y="4779537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애매한데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cxnSp>
        <p:nvCxnSpPr>
          <p:cNvPr id="39" name="직선 화살표 연결선 38"/>
          <p:cNvCxnSpPr/>
          <p:nvPr/>
        </p:nvCxnSpPr>
        <p:spPr>
          <a:xfrm>
            <a:off x="5547166" y="4964203"/>
            <a:ext cx="863362" cy="5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886" y="2162839"/>
            <a:ext cx="4255442" cy="744985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886" y="2158572"/>
            <a:ext cx="4331616" cy="75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661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46447" y="361366"/>
            <a:ext cx="9679305" cy="930769"/>
          </a:xfrm>
        </p:spPr>
        <p:txBody>
          <a:bodyPr>
            <a:normAutofit/>
          </a:bodyPr>
          <a:lstStyle/>
          <a:p>
            <a:r>
              <a:rPr lang="ko-KR" altLang="en-US" sz="3600" dirty="0" smtClean="0"/>
              <a:t>최적화</a:t>
            </a:r>
            <a:r>
              <a:rPr lang="en-US" altLang="ko-KR" sz="3600" dirty="0" smtClean="0"/>
              <a:t>1</a:t>
            </a:r>
            <a:endParaRPr lang="ko-KR" altLang="en-US" sz="3600" dirty="0"/>
          </a:p>
        </p:txBody>
      </p:sp>
      <p:grpSp>
        <p:nvGrpSpPr>
          <p:cNvPr id="24" name="그룹 23"/>
          <p:cNvGrpSpPr/>
          <p:nvPr/>
        </p:nvGrpSpPr>
        <p:grpSpPr>
          <a:xfrm>
            <a:off x="852386" y="1625935"/>
            <a:ext cx="571500" cy="809625"/>
            <a:chOff x="926965" y="2352979"/>
            <a:chExt cx="571500" cy="809625"/>
          </a:xfrm>
        </p:grpSpPr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6965" y="2352979"/>
              <a:ext cx="571500" cy="809625"/>
            </a:xfrm>
            <a:prstGeom prst="rect">
              <a:avLst/>
            </a:prstGeom>
            <a:solidFill>
              <a:srgbClr val="000000"/>
            </a:solidFill>
          </p:spPr>
        </p:pic>
        <p:sp>
          <p:nvSpPr>
            <p:cNvPr id="26" name="타원 25"/>
            <p:cNvSpPr/>
            <p:nvPr/>
          </p:nvSpPr>
          <p:spPr>
            <a:xfrm>
              <a:off x="1108952" y="2840477"/>
              <a:ext cx="243193" cy="233464"/>
            </a:xfrm>
            <a:prstGeom prst="ellipse">
              <a:avLst/>
            </a:prstGeom>
            <a:solidFill>
              <a:srgbClr val="00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852386" y="24650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유저</a:t>
            </a:r>
            <a:endParaRPr lang="ko-KR" altLang="en-US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271" y="2786650"/>
            <a:ext cx="432655" cy="360228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912" y="2611105"/>
            <a:ext cx="432655" cy="360228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553" y="2435560"/>
            <a:ext cx="432655" cy="360228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598" y="2694309"/>
            <a:ext cx="432655" cy="360228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239" y="2518764"/>
            <a:ext cx="432655" cy="360228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880" y="2343219"/>
            <a:ext cx="432655" cy="360228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5637" y="2590484"/>
            <a:ext cx="432655" cy="360228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278" y="2414939"/>
            <a:ext cx="432655" cy="360228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919" y="2239394"/>
            <a:ext cx="432655" cy="36022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94607" y="2388287"/>
            <a:ext cx="4705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유저가 받은 뉴스들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항상 정렬된 상태를 유지할 필요가 있을까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896" y="4036293"/>
            <a:ext cx="4057650" cy="37147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94607" y="3749238"/>
            <a:ext cx="71999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정렬을 하는 이유</a:t>
            </a:r>
            <a:r>
              <a:rPr lang="en-US" altLang="ko-KR" dirty="0" smtClean="0"/>
              <a:t>?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최신 뉴스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 뽑으려고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 smtClean="0"/>
              <a:t>checkUser</a:t>
            </a:r>
            <a:r>
              <a:rPr lang="ko-KR" altLang="en-US" dirty="0" smtClean="0"/>
              <a:t>가 호출되지 않는다면</a:t>
            </a:r>
            <a:r>
              <a:rPr lang="en-US" altLang="ko-KR" dirty="0" smtClean="0"/>
              <a:t>?</a:t>
            </a:r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굳이 정렬할 필요가 없음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-&gt;</a:t>
            </a:r>
            <a:r>
              <a:rPr lang="en-US" altLang="ko-KR" dirty="0"/>
              <a:t> </a:t>
            </a:r>
            <a:r>
              <a:rPr lang="en-US" altLang="ko-KR" dirty="0" err="1" smtClean="0"/>
              <a:t>checkUser</a:t>
            </a:r>
            <a:r>
              <a:rPr lang="ko-KR" altLang="en-US" dirty="0" smtClean="0"/>
              <a:t>가 호출되었을 때만 정렬해도 됨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752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46447" y="361366"/>
            <a:ext cx="9679305" cy="930769"/>
          </a:xfrm>
        </p:spPr>
        <p:txBody>
          <a:bodyPr>
            <a:normAutofit/>
          </a:bodyPr>
          <a:lstStyle/>
          <a:p>
            <a:r>
              <a:rPr lang="ko-KR" altLang="en-US" sz="3600" dirty="0" smtClean="0"/>
              <a:t>최적화</a:t>
            </a:r>
            <a:r>
              <a:rPr lang="en-US" altLang="ko-KR" sz="3600" dirty="0" smtClean="0"/>
              <a:t>1</a:t>
            </a:r>
            <a:endParaRPr lang="ko-KR" altLang="en-US" sz="3600" dirty="0"/>
          </a:p>
        </p:txBody>
      </p:sp>
      <p:grpSp>
        <p:nvGrpSpPr>
          <p:cNvPr id="24" name="그룹 23"/>
          <p:cNvGrpSpPr/>
          <p:nvPr/>
        </p:nvGrpSpPr>
        <p:grpSpPr>
          <a:xfrm>
            <a:off x="9740002" y="908218"/>
            <a:ext cx="571500" cy="809625"/>
            <a:chOff x="926965" y="2352979"/>
            <a:chExt cx="571500" cy="809625"/>
          </a:xfrm>
        </p:grpSpPr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6965" y="2352979"/>
              <a:ext cx="571500" cy="809625"/>
            </a:xfrm>
            <a:prstGeom prst="rect">
              <a:avLst/>
            </a:prstGeom>
            <a:solidFill>
              <a:srgbClr val="000000"/>
            </a:solidFill>
          </p:spPr>
        </p:pic>
        <p:sp>
          <p:nvSpPr>
            <p:cNvPr id="26" name="타원 25"/>
            <p:cNvSpPr/>
            <p:nvPr/>
          </p:nvSpPr>
          <p:spPr>
            <a:xfrm>
              <a:off x="1108952" y="2840477"/>
              <a:ext cx="243193" cy="233464"/>
            </a:xfrm>
            <a:prstGeom prst="ellipse">
              <a:avLst/>
            </a:prstGeom>
            <a:solidFill>
              <a:srgbClr val="00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740002" y="174734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유저</a:t>
            </a:r>
            <a:endParaRPr lang="ko-KR" altLang="en-US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9887" y="2068933"/>
            <a:ext cx="432655" cy="360228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8528" y="1893388"/>
            <a:ext cx="432655" cy="360228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7169" y="1717843"/>
            <a:ext cx="432655" cy="360228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6214" y="1976592"/>
            <a:ext cx="432655" cy="360228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855" y="1801047"/>
            <a:ext cx="432655" cy="360228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3496" y="1625502"/>
            <a:ext cx="432655" cy="360228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253" y="1872767"/>
            <a:ext cx="432655" cy="360228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1894" y="1697222"/>
            <a:ext cx="432655" cy="360228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0535" y="1521677"/>
            <a:ext cx="432655" cy="360228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793" y="2483700"/>
            <a:ext cx="4255442" cy="7449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5860" y="2489438"/>
            <a:ext cx="4222668" cy="7392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6187" y="2045243"/>
            <a:ext cx="4564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유저가 받은 뉴스들 </a:t>
            </a:r>
            <a:r>
              <a:rPr lang="en-US" altLang="ko-KR" dirty="0" err="1" smtClean="0"/>
              <a:t>pq</a:t>
            </a:r>
            <a:r>
              <a:rPr lang="ko-KR" altLang="en-US" dirty="0" smtClean="0"/>
              <a:t>대신 리스트에 저장</a:t>
            </a:r>
            <a:endParaRPr lang="en-US" altLang="ko-KR" dirty="0" smtClean="0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5042866" y="2856192"/>
            <a:ext cx="863362" cy="5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그림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208" y="4626054"/>
            <a:ext cx="4000500" cy="33337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5386" y="4959429"/>
            <a:ext cx="6072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checkUser</a:t>
            </a:r>
            <a:r>
              <a:rPr lang="ko-KR" altLang="en-US" dirty="0" smtClean="0"/>
              <a:t>가 호출되었을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해당 유저의 리스트 정렬 후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최신 뉴스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 반환</a:t>
            </a:r>
            <a:endParaRPr lang="en-US" altLang="ko-KR" dirty="0" smtClean="0"/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92" y="4550805"/>
            <a:ext cx="5170251" cy="55958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599" y="5837699"/>
            <a:ext cx="5185666" cy="576185"/>
          </a:xfrm>
          <a:prstGeom prst="rect">
            <a:avLst/>
          </a:prstGeom>
        </p:spPr>
      </p:pic>
      <p:cxnSp>
        <p:nvCxnSpPr>
          <p:cNvPr id="40" name="직선 화살표 연결선 39"/>
          <p:cNvCxnSpPr/>
          <p:nvPr/>
        </p:nvCxnSpPr>
        <p:spPr>
          <a:xfrm flipH="1">
            <a:off x="8832715" y="5191637"/>
            <a:ext cx="2889" cy="506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5195266" y="3008592"/>
            <a:ext cx="863362" cy="5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5858" y="2483700"/>
            <a:ext cx="4255445" cy="74498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793" y="2479395"/>
            <a:ext cx="4331616" cy="75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4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46447" y="361366"/>
            <a:ext cx="9679305" cy="930769"/>
          </a:xfrm>
        </p:spPr>
        <p:txBody>
          <a:bodyPr>
            <a:normAutofit/>
          </a:bodyPr>
          <a:lstStyle/>
          <a:p>
            <a:r>
              <a:rPr lang="ko-KR" altLang="en-US" sz="3600" dirty="0" smtClean="0"/>
              <a:t>최적화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grpSp>
        <p:nvGrpSpPr>
          <p:cNvPr id="24" name="그룹 23"/>
          <p:cNvGrpSpPr/>
          <p:nvPr/>
        </p:nvGrpSpPr>
        <p:grpSpPr>
          <a:xfrm>
            <a:off x="7337270" y="1510677"/>
            <a:ext cx="571500" cy="809625"/>
            <a:chOff x="926965" y="2352979"/>
            <a:chExt cx="571500" cy="809625"/>
          </a:xfrm>
        </p:grpSpPr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6965" y="2352979"/>
              <a:ext cx="571500" cy="809625"/>
            </a:xfrm>
            <a:prstGeom prst="rect">
              <a:avLst/>
            </a:prstGeom>
            <a:solidFill>
              <a:srgbClr val="000000"/>
            </a:solidFill>
          </p:spPr>
        </p:pic>
        <p:sp>
          <p:nvSpPr>
            <p:cNvPr id="26" name="타원 25"/>
            <p:cNvSpPr/>
            <p:nvPr/>
          </p:nvSpPr>
          <p:spPr>
            <a:xfrm>
              <a:off x="1108952" y="2840477"/>
              <a:ext cx="243193" cy="233464"/>
            </a:xfrm>
            <a:prstGeom prst="ellipse">
              <a:avLst/>
            </a:prstGeom>
            <a:solidFill>
              <a:srgbClr val="00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7337270" y="234980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유저</a:t>
            </a:r>
            <a:endParaRPr lang="ko-KR" altLang="en-US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7155" y="2671392"/>
            <a:ext cx="432655" cy="360228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796" y="2495847"/>
            <a:ext cx="432655" cy="360228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437" y="2320302"/>
            <a:ext cx="432655" cy="360228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482" y="2579051"/>
            <a:ext cx="432655" cy="360228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123" y="2403506"/>
            <a:ext cx="432655" cy="360228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764" y="2227961"/>
            <a:ext cx="432655" cy="360228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521" y="2475226"/>
            <a:ext cx="432655" cy="360228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9162" y="2299681"/>
            <a:ext cx="432655" cy="360228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803" y="2124136"/>
            <a:ext cx="432655" cy="360228"/>
          </a:xfrm>
          <a:prstGeom prst="rect">
            <a:avLst/>
          </a:prstGeom>
        </p:spPr>
      </p:pic>
      <p:sp>
        <p:nvSpPr>
          <p:cNvPr id="38" name="타원 37"/>
          <p:cNvSpPr/>
          <p:nvPr/>
        </p:nvSpPr>
        <p:spPr>
          <a:xfrm>
            <a:off x="2431915" y="1510677"/>
            <a:ext cx="1264596" cy="126459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925" y="1842068"/>
            <a:ext cx="432655" cy="360228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7920" y="2202296"/>
            <a:ext cx="432655" cy="360228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1558" y="1717076"/>
            <a:ext cx="432655" cy="36022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639077" y="2775273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어딘가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pq</a:t>
            </a:r>
            <a:r>
              <a:rPr lang="en-US" altLang="ko-KR" sz="1600" dirty="0" smtClean="0"/>
              <a:t>)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28993" y="3501093"/>
            <a:ext cx="24961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정렬 순서</a:t>
            </a:r>
            <a:endParaRPr lang="en-US" altLang="ko-KR" b="1" dirty="0" smtClean="0"/>
          </a:p>
          <a:p>
            <a:r>
              <a:rPr lang="ko-KR" altLang="en-US" dirty="0" smtClean="0"/>
              <a:t>뉴스가 전송된 시간 ↑</a:t>
            </a:r>
            <a:endParaRPr lang="en-US" altLang="ko-KR" dirty="0" smtClean="0"/>
          </a:p>
          <a:p>
            <a:r>
              <a:rPr lang="ko-KR" altLang="en-US" dirty="0" smtClean="0"/>
              <a:t>뉴스 </a:t>
            </a:r>
            <a:r>
              <a:rPr lang="en-US" altLang="ko-KR" dirty="0" smtClean="0"/>
              <a:t>ID </a:t>
            </a:r>
            <a:r>
              <a:rPr lang="ko-KR" altLang="en-US" dirty="0" smtClean="0"/>
              <a:t>↑</a:t>
            </a:r>
            <a:endParaRPr lang="en-US" altLang="ko-KR" dirty="0"/>
          </a:p>
        </p:txBody>
      </p:sp>
      <p:sp>
        <p:nvSpPr>
          <p:cNvPr id="51" name="TextBox 50"/>
          <p:cNvSpPr txBox="1"/>
          <p:nvPr/>
        </p:nvSpPr>
        <p:spPr>
          <a:xfrm>
            <a:off x="1971426" y="3503954"/>
            <a:ext cx="2507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정렬 순서</a:t>
            </a:r>
            <a:endParaRPr lang="en-US" altLang="ko-KR" b="1" dirty="0" smtClean="0"/>
          </a:p>
          <a:p>
            <a:r>
              <a:rPr lang="ko-KR" altLang="en-US" dirty="0" smtClean="0"/>
              <a:t>뉴스가 전송된 시간 ↓</a:t>
            </a:r>
            <a:endParaRPr lang="ko-KR" altLang="en-US" dirty="0"/>
          </a:p>
        </p:txBody>
      </p:sp>
      <p:cxnSp>
        <p:nvCxnSpPr>
          <p:cNvPr id="8" name="직선 화살표 연결선 7"/>
          <p:cNvCxnSpPr/>
          <p:nvPr/>
        </p:nvCxnSpPr>
        <p:spPr>
          <a:xfrm flipV="1">
            <a:off x="4630366" y="3962758"/>
            <a:ext cx="2295728" cy="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41769" y="4062988"/>
            <a:ext cx="2124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정렬 순서가 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반대</a:t>
            </a:r>
            <a:r>
              <a:rPr lang="ko-KR" altLang="en-US" sz="1600" dirty="0" err="1" smtClean="0"/>
              <a:t>네</a:t>
            </a:r>
            <a:r>
              <a:rPr lang="en-US" altLang="ko-KR" sz="1600" dirty="0" smtClean="0"/>
              <a:t>?!</a:t>
            </a:r>
            <a:endParaRPr lang="ko-KR" altLang="en-US" sz="1600" dirty="0"/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9651" y="5113551"/>
            <a:ext cx="432655" cy="360228"/>
          </a:xfrm>
          <a:prstGeom prst="rect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690" y="5473779"/>
            <a:ext cx="432655" cy="360228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1268" y="6038458"/>
            <a:ext cx="432655" cy="3602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38612" y="5437036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</a:t>
            </a:r>
            <a:r>
              <a:rPr lang="en-US" altLang="ko-KR" dirty="0" smtClean="0"/>
              <a:t>: 1</a:t>
            </a:r>
            <a:endParaRPr lang="ko-KR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3286690" y="5820622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</a:t>
            </a:r>
            <a:r>
              <a:rPr lang="en-US" altLang="ko-KR" dirty="0" smtClean="0"/>
              <a:t>: 2</a:t>
            </a:r>
            <a:endParaRPr lang="ko-KR" alt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2574820" y="6360830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</a:t>
            </a:r>
            <a:r>
              <a:rPr lang="en-US" altLang="ko-KR" dirty="0" smtClean="0"/>
              <a:t>: 3</a:t>
            </a:r>
            <a:endParaRPr lang="ko-KR" altLang="en-US" dirty="0"/>
          </a:p>
        </p:txBody>
      </p:sp>
      <p:pic>
        <p:nvPicPr>
          <p:cNvPr id="57" name="그림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578" y="5764221"/>
            <a:ext cx="432655" cy="360228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548" y="5765524"/>
            <a:ext cx="432655" cy="360228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420" y="5759454"/>
            <a:ext cx="432655" cy="36022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366539" y="6087706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</a:t>
            </a:r>
            <a:r>
              <a:rPr lang="en-US" altLang="ko-KR" dirty="0" smtClean="0"/>
              <a:t>: 1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8128548" y="6112367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</a:t>
            </a:r>
            <a:r>
              <a:rPr lang="en-US" altLang="ko-KR" dirty="0" smtClean="0"/>
              <a:t>: 2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8828972" y="6081826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</a:t>
            </a:r>
            <a:r>
              <a:rPr lang="en-US" altLang="ko-KR" dirty="0" smtClean="0"/>
              <a:t>: 3</a:t>
            </a:r>
            <a:endParaRPr lang="ko-KR" altLang="en-US" dirty="0"/>
          </a:p>
        </p:txBody>
      </p:sp>
      <p:cxnSp>
        <p:nvCxnSpPr>
          <p:cNvPr id="63" name="직선 화살표 연결선 62"/>
          <p:cNvCxnSpPr/>
          <p:nvPr/>
        </p:nvCxnSpPr>
        <p:spPr>
          <a:xfrm>
            <a:off x="5292295" y="5939078"/>
            <a:ext cx="863362" cy="5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37270" y="5293665"/>
            <a:ext cx="4421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유저는 뉴스를 따로 정렬할 필요가 없다</a:t>
            </a:r>
            <a:r>
              <a:rPr lang="en-US" altLang="ko-KR" dirty="0" smtClean="0"/>
              <a:t>!!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5609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46447" y="361366"/>
            <a:ext cx="9679305" cy="930769"/>
          </a:xfrm>
        </p:spPr>
        <p:txBody>
          <a:bodyPr>
            <a:normAutofit/>
          </a:bodyPr>
          <a:lstStyle/>
          <a:p>
            <a:r>
              <a:rPr lang="ko-KR" altLang="en-US" sz="3600" dirty="0" smtClean="0"/>
              <a:t>최적화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668" y="3512789"/>
            <a:ext cx="5185666" cy="576185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2669" y="4817624"/>
            <a:ext cx="5185666" cy="575297"/>
          </a:xfrm>
          <a:prstGeom prst="rect">
            <a:avLst/>
          </a:prstGeom>
        </p:spPr>
      </p:pic>
      <p:cxnSp>
        <p:nvCxnSpPr>
          <p:cNvPr id="41" name="직선 화살표 연결선 40"/>
          <p:cNvCxnSpPr/>
          <p:nvPr/>
        </p:nvCxnSpPr>
        <p:spPr>
          <a:xfrm flipH="1">
            <a:off x="3735422" y="4200227"/>
            <a:ext cx="2889" cy="506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그림 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2668" y="2116225"/>
            <a:ext cx="5170251" cy="559585"/>
          </a:xfrm>
          <a:prstGeom prst="rect">
            <a:avLst/>
          </a:prstGeom>
        </p:spPr>
      </p:pic>
      <p:cxnSp>
        <p:nvCxnSpPr>
          <p:cNvPr id="47" name="직선 화살표 연결선 46"/>
          <p:cNvCxnSpPr/>
          <p:nvPr/>
        </p:nvCxnSpPr>
        <p:spPr>
          <a:xfrm flipH="1">
            <a:off x="3735422" y="2787063"/>
            <a:ext cx="2889" cy="506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750708" y="2226740"/>
            <a:ext cx="43524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 smtClean="0"/>
              <a:t>pq</a:t>
            </a:r>
            <a:r>
              <a:rPr lang="ko-KR" altLang="en-US" sz="1600" dirty="0" smtClean="0"/>
              <a:t>로 항상 정렬된 상태를 유지하고 있는 경우</a:t>
            </a:r>
            <a:endParaRPr lang="ko-KR" altLang="en-US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6750708" y="3631604"/>
            <a:ext cx="2935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필요할 때만 정렬을 하는 경우</a:t>
            </a:r>
            <a:endParaRPr lang="ko-KR" alt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6750708" y="4936440"/>
            <a:ext cx="27302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정렬을 할 필요가 없는 경우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9756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46447" y="361366"/>
            <a:ext cx="9679305" cy="930769"/>
          </a:xfrm>
        </p:spPr>
        <p:txBody>
          <a:bodyPr>
            <a:normAutofit/>
          </a:bodyPr>
          <a:lstStyle/>
          <a:p>
            <a:r>
              <a:rPr lang="ko-KR" altLang="en-US" sz="3600" dirty="0" smtClean="0"/>
              <a:t>주의사항</a:t>
            </a:r>
            <a:r>
              <a:rPr lang="en-US" altLang="ko-KR" sz="3600" dirty="0" smtClean="0"/>
              <a:t>(C++)</a:t>
            </a:r>
            <a:endParaRPr lang="ko-KR" alt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346447" y="2908479"/>
            <a:ext cx="9557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채널 </a:t>
            </a:r>
            <a:r>
              <a:rPr lang="en-US" altLang="ko-KR" dirty="0"/>
              <a:t>ID</a:t>
            </a:r>
          </a:p>
          <a:p>
            <a:r>
              <a:rPr lang="ko-KR" altLang="en-US" dirty="0" smtClean="0"/>
              <a:t>유저 </a:t>
            </a:r>
            <a:r>
              <a:rPr lang="en-US" altLang="ko-KR" dirty="0" smtClean="0"/>
              <a:t>ID</a:t>
            </a:r>
          </a:p>
          <a:p>
            <a:r>
              <a:rPr lang="ko-KR" altLang="en-US" dirty="0" smtClean="0"/>
              <a:t>뉴스 </a:t>
            </a:r>
            <a:r>
              <a:rPr lang="en-US" altLang="ko-KR" dirty="0" smtClean="0"/>
              <a:t>ID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45674" y="3185478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1~10</a:t>
            </a:r>
            <a:r>
              <a:rPr lang="ko-KR" altLang="en-US" dirty="0" smtClean="0"/>
              <a:t>억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46447" y="1818814"/>
            <a:ext cx="29690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채널을 구독한 유저 </a:t>
            </a:r>
            <a:r>
              <a:rPr lang="ko-KR" altLang="en-US" dirty="0" smtClean="0"/>
              <a:t>리스트</a:t>
            </a:r>
            <a:endParaRPr lang="en-US" altLang="ko-KR" dirty="0" smtClean="0"/>
          </a:p>
          <a:p>
            <a:r>
              <a:rPr lang="ko-KR" altLang="en-US" dirty="0" smtClean="0"/>
              <a:t>유저가 받은 뉴스 리스트</a:t>
            </a:r>
            <a:endParaRPr lang="en-US" altLang="ko-KR" dirty="0" smtClean="0"/>
          </a:p>
          <a:p>
            <a:r>
              <a:rPr lang="ko-KR" altLang="en-US" dirty="0" smtClean="0"/>
              <a:t>뉴스에 대한 정보</a:t>
            </a:r>
            <a:endParaRPr lang="ko-KR" altLang="en-US" dirty="0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3755325" y="2903222"/>
            <a:ext cx="863362" cy="5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88124" y="3000812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Map </a:t>
            </a:r>
            <a:r>
              <a:rPr lang="ko-KR" altLang="en-US" dirty="0" smtClean="0"/>
              <a:t>사용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581652" y="1495125"/>
            <a:ext cx="612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Java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52" y="1935315"/>
            <a:ext cx="4797761" cy="139194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46447" y="435848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C++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145" y="4727820"/>
            <a:ext cx="4797763" cy="1391943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650" y="3405642"/>
            <a:ext cx="5185666" cy="575297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145" y="6210119"/>
            <a:ext cx="5185666" cy="55795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2804" y="4727820"/>
            <a:ext cx="4886609" cy="139194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81650" y="6304428"/>
            <a:ext cx="26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너무 느린 </a:t>
            </a:r>
            <a:r>
              <a:rPr lang="en-US" altLang="ko-KR" dirty="0" smtClean="0"/>
              <a:t>C++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map...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631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46447" y="361366"/>
            <a:ext cx="9679305" cy="930769"/>
          </a:xfrm>
        </p:spPr>
        <p:txBody>
          <a:bodyPr>
            <a:normAutofit/>
          </a:bodyPr>
          <a:lstStyle/>
          <a:p>
            <a:r>
              <a:rPr lang="ko-KR" altLang="en-US" sz="3600" dirty="0" smtClean="0"/>
              <a:t>주의사항</a:t>
            </a:r>
            <a:r>
              <a:rPr lang="en-US" altLang="ko-KR" sz="3600" dirty="0" smtClean="0"/>
              <a:t>(C++)</a:t>
            </a:r>
            <a:endParaRPr lang="ko-KR" altLang="en-US" sz="3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30" y="3478645"/>
            <a:ext cx="2935303" cy="1222208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30" y="1778007"/>
            <a:ext cx="4797763" cy="139194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921" y="1778006"/>
            <a:ext cx="4886609" cy="1391943"/>
          </a:xfrm>
          <a:prstGeom prst="rect">
            <a:avLst/>
          </a:prstGeom>
        </p:spPr>
      </p:pic>
      <p:grpSp>
        <p:nvGrpSpPr>
          <p:cNvPr id="23" name="그룹 22"/>
          <p:cNvGrpSpPr/>
          <p:nvPr/>
        </p:nvGrpSpPr>
        <p:grpSpPr>
          <a:xfrm>
            <a:off x="900197" y="1607612"/>
            <a:ext cx="5091314" cy="1792044"/>
            <a:chOff x="3219853" y="5038928"/>
            <a:chExt cx="642028" cy="671208"/>
          </a:xfrm>
        </p:grpSpPr>
        <p:cxnSp>
          <p:nvCxnSpPr>
            <p:cNvPr id="25" name="직선 연결선 24"/>
            <p:cNvCxnSpPr/>
            <p:nvPr/>
          </p:nvCxnSpPr>
          <p:spPr>
            <a:xfrm>
              <a:off x="3219853" y="5038928"/>
              <a:ext cx="642026" cy="671208"/>
            </a:xfrm>
            <a:prstGeom prst="line">
              <a:avLst/>
            </a:prstGeom>
            <a:ln w="28575">
              <a:solidFill>
                <a:srgbClr val="FF0000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/>
            <p:nvPr/>
          </p:nvCxnSpPr>
          <p:spPr>
            <a:xfrm flipV="1">
              <a:off x="3219855" y="5038928"/>
              <a:ext cx="642026" cy="671208"/>
            </a:xfrm>
            <a:prstGeom prst="line">
              <a:avLst/>
            </a:prstGeom>
            <a:ln w="28575">
              <a:solidFill>
                <a:srgbClr val="FF0000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1033807" y="4932645"/>
            <a:ext cx="48240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ID</a:t>
            </a:r>
            <a:r>
              <a:rPr lang="ko-KR" altLang="en-US" dirty="0" smtClean="0"/>
              <a:t>에 해당하는 </a:t>
            </a:r>
            <a:r>
              <a:rPr lang="en-US" altLang="ko-KR" dirty="0" smtClean="0"/>
              <a:t>value</a:t>
            </a:r>
            <a:r>
              <a:rPr lang="ko-KR" altLang="en-US" dirty="0" smtClean="0"/>
              <a:t>를 포인터 가리키지 말고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1~10</a:t>
            </a:r>
            <a:r>
              <a:rPr lang="ko-KR" altLang="en-US" dirty="0" smtClean="0"/>
              <a:t>억 범위의 </a:t>
            </a:r>
            <a:r>
              <a:rPr lang="en-US" altLang="ko-KR" dirty="0" smtClean="0"/>
              <a:t>ID</a:t>
            </a:r>
            <a:r>
              <a:rPr lang="ko-KR" altLang="en-US" dirty="0" smtClean="0"/>
              <a:t>를</a:t>
            </a:r>
            <a:endParaRPr lang="en-US" altLang="ko-KR" dirty="0" smtClean="0"/>
          </a:p>
          <a:p>
            <a:r>
              <a:rPr lang="ko-KR" altLang="en-US" dirty="0" smtClean="0"/>
              <a:t>배열 인덱스로 압축하는 용도로 사용</a:t>
            </a:r>
            <a:endParaRPr lang="ko-KR" altLang="en-US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4864" y="4721787"/>
            <a:ext cx="5185666" cy="55795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4864" y="5885562"/>
            <a:ext cx="5185666" cy="588909"/>
          </a:xfrm>
          <a:prstGeom prst="rect">
            <a:avLst/>
          </a:prstGeom>
        </p:spPr>
      </p:pic>
      <p:cxnSp>
        <p:nvCxnSpPr>
          <p:cNvPr id="29" name="직선 화살표 연결선 28"/>
          <p:cNvCxnSpPr/>
          <p:nvPr/>
        </p:nvCxnSpPr>
        <p:spPr>
          <a:xfrm flipH="1">
            <a:off x="8463064" y="5279738"/>
            <a:ext cx="2889" cy="506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75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 err="1" smtClean="0"/>
              <a:t>QnA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5757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21655</TotalTime>
  <Words>430</Words>
  <Application>Microsoft Office PowerPoint</Application>
  <PresentationFormat>와이드스크린</PresentationFormat>
  <Paragraphs>158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Cambria Math</vt:lpstr>
      <vt:lpstr>Office 테마</vt:lpstr>
      <vt:lpstr>뉴스알림</vt:lpstr>
      <vt:lpstr>문제 분석</vt:lpstr>
      <vt:lpstr>문제 분석</vt:lpstr>
      <vt:lpstr>문제 전략</vt:lpstr>
      <vt:lpstr>문제 전략</vt:lpstr>
      <vt:lpstr>문제 전략</vt:lpstr>
      <vt:lpstr>문제 전략</vt:lpstr>
      <vt:lpstr>최적화1</vt:lpstr>
      <vt:lpstr>최적화1</vt:lpstr>
      <vt:lpstr>최적화2</vt:lpstr>
      <vt:lpstr>최적화2</vt:lpstr>
      <vt:lpstr>주의사항(C++)</vt:lpstr>
      <vt:lpstr>주의사항(C++)</vt:lpstr>
      <vt:lpstr>QnA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 Joona</dc:creator>
  <cp:lastModifiedBy>강태웅/채용T/F/삼성전자</cp:lastModifiedBy>
  <cp:revision>1232</cp:revision>
  <dcterms:created xsi:type="dcterms:W3CDTF">2020-03-23T05:55:12Z</dcterms:created>
  <dcterms:modified xsi:type="dcterms:W3CDTF">2024-02-02T03:51:32Z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